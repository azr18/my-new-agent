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 TITLE</a:t>
            </a:r>
          </a:p>
          <a:p/>
          <a:p>
            <a:r>
              <a:t>KEY MESSAGE: Set the tone — this is not a tech lecture, it's a business conversation about money and competitive advantage.</a:t>
            </a:r>
          </a:p>
          <a:p/>
          <a:p>
            <a:r>
              <a:t>TALKING POINTS:</a:t>
            </a:r>
          </a:p>
          <a:p>
            <a:r>
              <a:t>- Welcome everyone. Thank you for being here.</a:t>
            </a:r>
          </a:p>
          <a:p>
            <a:r>
              <a:t>- "I'm not here to sell you software. I'm here to show you why the businesses that move on AI now will be the ones that dominate their industries in 3 years."</a:t>
            </a:r>
          </a:p>
          <a:p>
            <a:r>
              <a:t>- Quick intro: My New Agent — we're an AI automation consultancy. We build custom automations that replace repetitive manual work.</a:t>
            </a:r>
          </a:p>
          <a:p>
            <a:r>
              <a:t>- "By the end of this presentation, you'll know exactly whether AI automation is right for your business — and I promise, if it's not, I'll tell you that too."</a:t>
            </a:r>
          </a:p>
          <a:p/>
          <a:p>
            <a:r>
              <a:t>TRANSITION: "Let me start with a question — how many of you feel like AI is something you should be doing something about, but you're not sure what?"</a:t>
            </a:r>
          </a:p>
          <a:p>
            <a:r>
              <a:t>(Pause for hands. This creates engagement and lets you gauge the room.)</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2: THE AI ADOPTION LIFECYCLE</a:t>
            </a:r>
          </a:p>
          <a:p/>
          <a:p>
            <a:r>
              <a:t>KEY MESSAGE: We are at a once-in-a-generation inflection point. The window to gain first-mover advantage is open RIGHT NOW but it's closing fast.</a:t>
            </a:r>
          </a:p>
          <a:p/>
          <a:p>
            <a:r>
              <a:t>TALKING POINTS:</a:t>
            </a:r>
          </a:p>
          <a:p>
            <a:r>
              <a:t>- "This is the Technology Adoption Lifecycle — you've probably seen versions of it. It applies to the internet, smartphones, cloud computing — every major tech wave follows this exact pattern."</a:t>
            </a:r>
          </a:p>
          <a:p>
            <a:r>
              <a:t>- "Right now, with AI automation, we are RIGHT HERE" (point to the Early Adopters section). "We've just crossed out of the Innovator phase."</a:t>
            </a:r>
          </a:p>
          <a:p>
            <a:r>
              <a:t>- "That means most businesses haven't moved yet. That's both the risk and the opportunity."</a:t>
            </a:r>
          </a:p>
          <a:p/>
          <a:p>
            <a:r>
              <a:t>THE TWO OPTIONS:</a:t>
            </a:r>
          </a:p>
          <a:p>
            <a:r>
              <a:t>- "Option A — wait and see. This feels safe. You let someone else figure it out first. The problem? By the time the 'Early Majority' kicks in, the businesses who moved early have already locked in their efficiency gains, their cost advantages, and their customer experience edge. You're now playing catch-up."</a:t>
            </a:r>
          </a:p>
          <a:p>
            <a:r>
              <a:t>- "Option B — move now. Yes, the tech is evolving fast. Yes, you might need to adjust. But the businesses gaining 10x to 30x efficiency today are building a competitive moat that will be almost impossible to overcome."</a:t>
            </a:r>
          </a:p>
          <a:p/>
          <a:p>
            <a:r>
              <a:t>AUDIENCE ENGAGEMENT:</a:t>
            </a:r>
          </a:p>
          <a:p>
            <a:r>
              <a:t>- "Think about it this way — how many of you wish you'd built a real website in 1998 instead of 2005?"</a:t>
            </a:r>
          </a:p>
          <a:p>
            <a:r>
              <a:t>- Let that land. The analogy is powerful.</a:t>
            </a:r>
          </a:p>
          <a:p/>
          <a:p>
            <a:r>
              <a:t>TRANSITION: "So the question isn't IF you should adopt AI — it's HOW you do it without blowing your budget or betting on the wrong tech. That's what the next slide is about."</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3: AGILITY OVER PERFECTION</a:t>
            </a:r>
          </a:p>
          <a:p/>
          <a:p>
            <a:r>
              <a:t>KEY MESSAGE: You don't need a $100K software project. You need a lean, flexible automation that delivers the same result at a fraction of the cost — and can evolve with the tech.</a:t>
            </a:r>
          </a:p>
          <a:p/>
          <a:p>
            <a:r>
              <a:t>TALKING POINTS:</a:t>
            </a:r>
          </a:p>
          <a:p>
            <a:r>
              <a:t>- "Here's the fear I hear from business owners all the time: 'I don't want to drop $50,000 on custom software that's going to be obsolete in a year when the next AI breakthrough happens.' And honestly? That's a SMART fear."</a:t>
            </a:r>
          </a:p>
          <a:p>
            <a:r>
              <a:t>- "The old approach — hiring a dev shop, building proprietary code, 6-12 month timelines — that model is dead for AI. The landscape moves too fast."</a:t>
            </a:r>
          </a:p>
          <a:p>
            <a:r>
              <a:t>- "Our approach is different. We build on agile, third-party platforms. We use tools like n8n — it's an open-source workflow automation platform. Think of it like Zapier on steroids, but you own the infrastructure."</a:t>
            </a:r>
          </a:p>
          <a:p/>
          <a:p>
            <a:r>
              <a:t>WHY THIS MATTERS:</a:t>
            </a:r>
          </a:p>
          <a:p>
            <a:r>
              <a:t>- "When a better AI model comes out — and it will — we don't throw away your investment. We upgrade the model inside your existing workflow. Your automation gets smarter without starting over."</a:t>
            </a:r>
          </a:p>
          <a:p>
            <a:r>
              <a:t>- "When a new capability becomes available — like an AI that can read invoices or negotiate with vendors — we plug it into your existing system. No rebuild."</a:t>
            </a:r>
          </a:p>
          <a:p/>
          <a:p>
            <a:r>
              <a:t>OBJECTION HANDLING:</a:t>
            </a:r>
          </a:p>
          <a:p>
            <a:r>
              <a:t>- If someone asks "Why not just use Zapier?" → "Zapier is great for simple tasks. But for business-critical automations that need to handle complex logic, process large volumes, or integrate with custom systems — you need something more robust. That's where we come in."</a:t>
            </a:r>
          </a:p>
          <a:p>
            <a:r>
              <a:t>- If someone asks about data security → "Your data stays on your infrastructure. We don't route your business data through third-party AI services without your explicit approval."</a:t>
            </a:r>
          </a:p>
          <a:p/>
          <a:p>
            <a:r>
              <a:t>TRANSITION: "So we've talked about WHY now and HOW to do it safely. Let's talk about the number everyone in this room actually cares about — the ROI."</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4: COST → ROI</a:t>
            </a:r>
          </a:p>
          <a:p/>
          <a:p>
            <a:r>
              <a:t>KEY MESSAGE: Automation pays for itself — usually in the first year. After that, it's pure profit. Make them do the math on their own business.</a:t>
            </a:r>
          </a:p>
          <a:p/>
          <a:p>
            <a:r>
              <a:t>TALKING POINTS:</a:t>
            </a:r>
          </a:p>
          <a:p>
            <a:r>
              <a:t>- "Let me reframe how you think about this. Automation is NOT a software expense. It's an operational replacement."</a:t>
            </a:r>
          </a:p>
          <a:p>
            <a:r>
              <a:t>- "Let's say your team spends 40 hours a week on data entry, invoice processing, or lead qualification. That's a full-time salary — let's call it $60,000 a year."</a:t>
            </a:r>
          </a:p>
          <a:p>
            <a:r>
              <a:t>- "We build an automation that handles 80% of that work. Implementation cost: $20,000. In the first year alone, you net $40,000. Every single year after that? That's $60,000 back in your pocket. No sick days. No training. No turnover."</a:t>
            </a:r>
          </a:p>
          <a:p/>
          <a:p>
            <a:r>
              <a:t>THE INTERACTIVE MOMENT (CRITICAL):</a:t>
            </a:r>
          </a:p>
          <a:p>
            <a:r>
              <a:t>- Read the question on screen out loud.</a:t>
            </a:r>
          </a:p>
          <a:p>
            <a:r>
              <a:t>- "I want you to actually think about this. What's that ONE process that every employee in your company dreads? The one that takes hours, that nobody wants to do, that you KNOW could be done better?"</a:t>
            </a:r>
          </a:p>
          <a:p>
            <a:r>
              <a:t>- Give them 30 seconds of silence. Let them think.</a:t>
            </a:r>
          </a:p>
          <a:p>
            <a:r>
              <a:t>- "Now — what if that process ran itself? What would you do with those freed-up hours? Sell more? Serve clients better? Go home at 5pm for once?"</a:t>
            </a:r>
          </a:p>
          <a:p>
            <a:r>
              <a:t>- This is where you'll see heads nodding. Some will raise hands. Engage with 2-3 responses briefly.</a:t>
            </a:r>
          </a:p>
          <a:p/>
          <a:p>
            <a:r>
              <a:t>OBJECTION HANDLING:</a:t>
            </a:r>
          </a:p>
          <a:p>
            <a:r>
              <a:t>- "But what about the 20% the automation can't do?" → "Great question. The automation handles the routine 80%. Your people now focus on the 20% that actually requires human judgment — the stuff that grows the business."</a:t>
            </a:r>
          </a:p>
          <a:p>
            <a:r>
              <a:t>- "What if we don't save that much?" → "That's exactly why we start with an audit. We don't guess. We measure your actual hours, actual costs, and we build the business case together before you spend a dime."</a:t>
            </a:r>
          </a:p>
          <a:p/>
          <a:p>
            <a:r>
              <a:t>TRANSITION: "Now, I know what some of you are thinking — 'This sounds great, but I've been burned before by tech companies promising results.' Let me address that head-on."</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5: CONSULTATIVE PARTNER</a:t>
            </a:r>
          </a:p>
          <a:p/>
          <a:p>
            <a:r>
              <a:t>KEY MESSAGE: Build trust by being the anti-salesperson. Position yourself as the advisor who prioritizes their business outcome over your revenue.</a:t>
            </a:r>
          </a:p>
          <a:p/>
          <a:p>
            <a:r>
              <a:t>TALKING POINTS:</a:t>
            </a:r>
          </a:p>
          <a:p>
            <a:r>
              <a:t>- "I want to address something directly. The market right now is FULL of people calling themselves AI experts. Every freelancer with a ChatGPT account is suddenly an 'AI agency.'"</a:t>
            </a:r>
          </a:p>
          <a:p>
            <a:r>
              <a:t>- "And honestly? A lot of them are selling templates. They copy-paste a generic workflow, slap your logo on it, and call it custom. When it breaks — and it WILL break — they're gone."</a:t>
            </a:r>
          </a:p>
          <a:p>
            <a:r>
              <a:t>- "We do it differently. Before we build anything, we do a full process audit. We sit with your team, we map your workflows, we identify where AI actually makes sense — and just as importantly, where it doesn't."</a:t>
            </a:r>
          </a:p>
          <a:p/>
          <a:p>
            <a:r>
              <a:t>THE POWER LINE:</a:t>
            </a:r>
          </a:p>
          <a:p>
            <a:r>
              <a:t>- Read the quote on screen with conviction: "If an AI solution isn't right for your current setup, I will tell you NO."</a:t>
            </a:r>
          </a:p>
          <a:p>
            <a:r>
              <a:t>- Pause. Let it land.</a:t>
            </a:r>
          </a:p>
          <a:p>
            <a:r>
              <a:t>- "I know that sounds counterintuitive for someone trying to sell you something. But here's the thing — my business grows from referrals. From clients who tell their peers, 'These guys actually delivered.' I'd rather walk away from a bad deal today than damage my reputation."</a:t>
            </a:r>
          </a:p>
          <a:p/>
          <a:p>
            <a:r>
              <a:t>WHY THIS WORKS:</a:t>
            </a:r>
          </a:p>
          <a:p>
            <a:r>
              <a:t>- In a room of business owners, trust is the #1 currency. They've all been burned by vendors before.</a:t>
            </a:r>
          </a:p>
          <a:p>
            <a:r>
              <a:t>- By positioning yourself as the one who says "no," you become the only one in the room they trust to say "yes."</a:t>
            </a:r>
          </a:p>
          <a:p/>
          <a:p>
            <a:r>
              <a:t>TRANSITION: "So let me show you exactly how an engagement with us works — step by step."</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6: OUR PROCESS</a:t>
            </a:r>
          </a:p>
          <a:p/>
          <a:p>
            <a:r>
              <a:t>KEY MESSAGE: Walk them through the exact engagement model so they know what to expect. No black box, no mystery.</a:t>
            </a:r>
          </a:p>
          <a:p/>
          <a:p>
            <a:r>
              <a:t>TALKING POINTS:</a:t>
            </a:r>
          </a:p>
          <a:p>
            <a:r>
              <a:t>- "Now let me show you exactly how we work. No mystery, no black box. Five clear phases."</a:t>
            </a:r>
          </a:p>
          <a:p/>
          <a:p>
            <a:r>
              <a:t>PHASE 1 — DISCOVER:</a:t>
            </a:r>
          </a:p>
          <a:p>
            <a:r>
              <a:t>- "We start by learning how your business actually runs. Not how you think it runs — how it ACTUALLY runs day to day."</a:t>
            </a:r>
          </a:p>
          <a:p>
            <a:r>
              <a:t>- "We sit with your team, we watch the workflows, we ask the uncomfortable questions about where time is being wasted."</a:t>
            </a:r>
          </a:p>
          <a:p>
            <a:r>
              <a:t>- "You get a tailored discovery session, a full process audit, and a ranked list of your biggest pain points."</a:t>
            </a:r>
          </a:p>
          <a:p/>
          <a:p>
            <a:r>
              <a:t>PHASE 2 — MAP SOPs:</a:t>
            </a:r>
          </a:p>
          <a:p>
            <a:r>
              <a:t>- "Then we document everything. Every step, every handoff, every bottleneck."</a:t>
            </a:r>
          </a:p>
          <a:p>
            <a:r>
              <a:t>- "We create step-by-step SOPs for each process, with the actual time and cost at every step."</a:t>
            </a:r>
          </a:p>
          <a:p>
            <a:r>
              <a:t>- "And we rate every task for automation potential — some things are easy wins, some aren't worth automating yet."</a:t>
            </a:r>
          </a:p>
          <a:p/>
          <a:p>
            <a:r>
              <a:t>PHASE 3 — IDENTIFY SAVINGS:</a:t>
            </a:r>
          </a:p>
          <a:p>
            <a:r>
              <a:t>- "This is where the numbers come in. We calculate exactly where your time and money are leaking."</a:t>
            </a:r>
          </a:p>
          <a:p>
            <a:r>
              <a:t>- "You get before-and-after process diagrams, a dollar value for each automation opportunity, and a clear ROI breakdown."</a:t>
            </a:r>
          </a:p>
          <a:p>
            <a:r>
              <a:t>- "This is where you decide what to build first — based on hard numbers, not guesses."</a:t>
            </a:r>
          </a:p>
          <a:p/>
          <a:p>
            <a:r>
              <a:t>PHASE 4 — BUILD IT:</a:t>
            </a:r>
          </a:p>
          <a:p>
            <a:r>
              <a:t>- "We build, test, and iterate using YOUR real data. Not dummy data, not test scenarios — your actual business processes."</a:t>
            </a:r>
          </a:p>
          <a:p>
            <a:r>
              <a:t>- "Every automation includes error handling. We plan for the edge cases before they happen."</a:t>
            </a:r>
          </a:p>
          <a:p/>
          <a:p>
            <a:r>
              <a:t>PHASE 5 — GO LIVE:</a:t>
            </a:r>
          </a:p>
          <a:p>
            <a:r>
              <a:t>- "We deploy, we train your team, and we monitor everything."</a:t>
            </a:r>
          </a:p>
          <a:p>
            <a:r>
              <a:t>- "This isn't a handoff-and-disappear situation. We stick around to make sure it's working in production."</a:t>
            </a:r>
          </a:p>
          <a:p>
            <a:r>
              <a:t>- "You get ongoing monitoring and support."</a:t>
            </a:r>
          </a:p>
          <a:p/>
          <a:p>
            <a:r>
              <a:t>LAND THE POINT:</a:t>
            </a:r>
          </a:p>
          <a:p>
            <a:r>
              <a:t>- "The entire process is transparent and measurable. At every phase, you know exactly what you're getting and what it costs. No surprises."</a:t>
            </a:r>
          </a:p>
          <a:p/>
          <a:p>
            <a:r>
              <a:t>TRANSITION: "And this isn't theoretical. Let me show you real results from businesses we've taken through this exact process."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7: REAL RESULTS</a:t>
            </a:r>
          </a:p>
          <a:p/>
          <a:p>
            <a:r>
              <a:t>KEY MESSAGE: These are real results from real businesses. This isn't theoretical — this is what automation actually delivers.</a:t>
            </a:r>
          </a:p>
          <a:p/>
          <a:p>
            <a:r>
              <a:t>TALKING POINTS:</a:t>
            </a:r>
          </a:p>
          <a:p>
            <a:r>
              <a:t>- "I've shown you the theory. Now let me show you what this actually looks like. These are three real projects we delivered."</a:t>
            </a:r>
          </a:p>
          <a:p/>
          <a:p>
            <a:r>
              <a:t>CASE STUDY 1 — SHIPPING:</a:t>
            </a:r>
          </a:p>
          <a:p>
            <a:r>
              <a:t>- "A product company similar to many of yours was generating shipping labels manually. Copying addresses, picking carriers, downloading labels, pasting tracking numbers back. Five hours a day, every day."</a:t>
            </a:r>
          </a:p>
          <a:p>
            <a:r>
              <a:t>- "We automated the entire flow. Labels generate automatically when orders come in. Carrier is selected based on weight and destination. Addresses are validated BEFORE printing — so no more wasted labels. Tracking numbers sync back automatically."</a:t>
            </a:r>
          </a:p>
          <a:p>
            <a:r>
              <a:t>- "Result: 85% reduction. Their shipping person now spends 10 minutes reviewing an exception report instead of 5 hours doing data entry. That’s $27,600 a year back in their pocket."</a:t>
            </a:r>
          </a:p>
          <a:p/>
          <a:p>
            <a:r>
              <a:t>CASE STUDY 2 — ORDER WORKFLOW:</a:t>
            </a:r>
          </a:p>
          <a:p>
            <a:r>
              <a:t>- "A retail business had data flowing between three systems: their storefront, inventory tracker, and invoicing tool. Every handoff was manual. Someone had to recalculate totals, apply discounts, check quantities. Errors were constant."</a:t>
            </a:r>
          </a:p>
          <a:p>
            <a:r>
              <a:t>- "We built an automated sync with a validation layer. It checks everything before posting. When source data changes, it self-corrects."</a:t>
            </a:r>
          </a:p>
          <a:p>
            <a:r>
              <a:t>- "Result: Zero data errors in over four months. The person who spent 2 hours a day on data entry now spends that time on customer relationships."</a:t>
            </a:r>
          </a:p>
          <a:p/>
          <a:p>
            <a:r>
              <a:t>CASE STUDY 3 — CONTENT:</a:t>
            </a:r>
          </a:p>
          <a:p>
            <a:r>
              <a:t>- "An e-commerce brand needed weekly blog posts for SEO. Each post took 4 to 6 hours — research, writing, images, SEO optimization, formatting."</a:t>
            </a:r>
          </a:p>
          <a:p>
            <a:r>
              <a:t>- "We built an 8-step AI pipeline. Feed it a keyword, and it produces a fully optimized, illustrated, publish-ready blog post."</a:t>
            </a:r>
          </a:p>
          <a:p>
            <a:r>
              <a:t>- "Result: 87% faster. 30 minutes of review instead of 6 hours of work. 52 posts a year, never misses a publish date."</a:t>
            </a:r>
          </a:p>
          <a:p/>
          <a:p>
            <a:r>
              <a:t>LAND THE POINT:</a:t>
            </a:r>
          </a:p>
          <a:p>
            <a:r>
              <a:t>- Point to the bottom bar: "And here’s the thing — these are single processes. Most businesses have three to five processes like this. Imagine automating all of them."</a:t>
            </a:r>
          </a:p>
          <a:p/>
          <a:p>
            <a:r>
              <a:t>TRANSITION: "So now you might be thinking — 'This sounds great, but what happens if it doesn't work? What’s my downside?' Great question. Let me show you how we eliminate your risk entirely."</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8: TOTAL RISK REVERSAL</a:t>
            </a:r>
          </a:p>
          <a:p/>
          <a:p>
            <a:r>
              <a:t>KEY MESSAGE: Eliminate the #1 objection — "What if it doesn't work?" — by putting YOUR money where your mouth is.</a:t>
            </a:r>
          </a:p>
          <a:p/>
          <a:p>
            <a:r>
              <a:t>TALKING POINTS:</a:t>
            </a:r>
          </a:p>
          <a:p>
            <a:r>
              <a:t>- "I know AI can sound like magic. And when something sounds too good to be true, smart business people get skeptical. That's a GOOD instinct."</a:t>
            </a:r>
          </a:p>
          <a:p>
            <a:r>
              <a:t>- "So here's how we eliminate your risk completely."</a:t>
            </a:r>
          </a:p>
          <a:p/>
          <a:p>
            <a:r>
              <a:t>THREE PILLARS — walk through each:</a:t>
            </a:r>
          </a:p>
          <a:p/>
          <a:p>
            <a:r>
              <a:t>1. DEFINED DELIVERABLES:</a:t>
            </a:r>
          </a:p>
          <a:p>
            <a:r>
              <a:t>- "Before we write a single line of code, we sit down together and define EXACTLY what the automation will do. Not 'it'll save you time' — specific technical features. 'It will extract invoice data from emails, match it to purchase orders, flag discrepancies, and push clean data to your accounting system.' Black and white."</a:t>
            </a:r>
          </a:p>
          <a:p/>
          <a:p>
            <a:r>
              <a:t>2. FEATURE GUARANTEE:</a:t>
            </a:r>
          </a:p>
          <a:p>
            <a:r>
              <a:t>- "If the finished automation doesn't do those exact things we agreed on? You don't pay. Full money-back guarantee."</a:t>
            </a:r>
          </a:p>
          <a:p>
            <a:r>
              <a:t>- "This isn't based on your feelings or satisfaction — it's based on hard, measurable technical deliverables. Did it do what we said? Yes or no."</a:t>
            </a:r>
          </a:p>
          <a:p>
            <a:r>
              <a:t>- Let that sink in. This is a powerful differentiator.</a:t>
            </a:r>
          </a:p>
          <a:p/>
          <a:p>
            <a:r>
              <a:t>3. PROOF OF CONCEPT:</a:t>
            </a:r>
          </a:p>
          <a:p>
            <a:r>
              <a:t>- "Before you even commit to a full engagement, we'll build a simplified working demo that applies to YOUR industry. You'll see the automation running in real-time. Not a slide deck. Not a mockup. A working system."</a:t>
            </a:r>
          </a:p>
          <a:p>
            <a:r>
              <a:t>- "If you don't like what you see? Walk away. No obligation."</a:t>
            </a:r>
          </a:p>
          <a:p/>
          <a:p>
            <a:r>
              <a:t>AUDIENCE ENGAGEMENT:</a:t>
            </a:r>
          </a:p>
          <a:p>
            <a:r>
              <a:t>- "How many of you have ever paid for software and felt like you didn't get what was promised?" (Hands will go up.)</a:t>
            </a:r>
          </a:p>
          <a:p>
            <a:r>
              <a:t>- "That doesn't happen with us. Because we define success before we start, not after."</a:t>
            </a:r>
          </a:p>
          <a:p/>
          <a:p>
            <a:r>
              <a:t>TRANSITION: "So — we've covered why now, how to do it safely, the ROI, why you can trust us, the proof, and how we eliminate your risk. Let me wrap up with one question..."</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9: CTA / NEXT STEPS</a:t>
            </a:r>
          </a:p>
          <a:p/>
          <a:p>
            <a:r>
              <a:t>KEY MESSAGE: End with a clear, low-friction call to action. Make it easy for them to take the next step.</a:t>
            </a:r>
          </a:p>
          <a:p/>
          <a:p>
            <a:r>
              <a:t>TALKING POINTS:</a:t>
            </a:r>
          </a:p>
          <a:p>
            <a:r>
              <a:t>- "Here's the only question that matters: What would you do with 10 times more time?"</a:t>
            </a:r>
          </a:p>
          <a:p>
            <a:r>
              <a:t>- "Would you take on more clients? Would you launch that new product line? Would you finally stop working weekends?"</a:t>
            </a:r>
          </a:p>
          <a:p>
            <a:r>
              <a:t>- Pause. Let them sit with it.</a:t>
            </a:r>
          </a:p>
          <a:p/>
          <a:p>
            <a:r>
              <a:t>THE OFFER:</a:t>
            </a:r>
          </a:p>
          <a:p>
            <a:r>
              <a:t>- "Here's what I want to offer everyone in this room. A FREE process audit."</a:t>
            </a:r>
          </a:p>
          <a:p>
            <a:r>
              <a:t>- "We'll sit down — 30 minutes, no obligation — and map out your single biggest automation opportunity. We'll show you exactly where you're losing time and money, and what the ROI would look like."</a:t>
            </a:r>
          </a:p>
          <a:p>
            <a:r>
              <a:t>- "If it makes sense to work together, great. If not, you walk away with a clear picture of your own operations. Either way, you win."</a:t>
            </a:r>
          </a:p>
          <a:p/>
          <a:p>
            <a:r>
              <a:t>CLOSING:</a:t>
            </a:r>
          </a:p>
          <a:p>
            <a:r>
              <a:t>- "My email is on screen. The website is on screen. Come talk to me after this if you have questions."</a:t>
            </a:r>
          </a:p>
          <a:p>
            <a:r>
              <a:t>- "But I'd encourage you — don't wait on this. The businesses that move now are the ones that will be impossible to catch later. Let's make sure that's YOUR business."</a:t>
            </a:r>
          </a:p>
          <a:p>
            <a:r>
              <a:t>- "Thank you."</a:t>
            </a:r>
          </a:p>
          <a:p/>
          <a:p>
            <a:r>
              <a:t>POST-PRESENTATION:</a:t>
            </a:r>
          </a:p>
          <a:p>
            <a:r>
              <a:t>- Stay at the front of the room. Be approachable.</a:t>
            </a:r>
          </a:p>
          <a:p>
            <a:r>
              <a:t>- Have business cards or a QR code that links directly to a calendar booking page.</a:t>
            </a:r>
          </a:p>
          <a:p>
            <a:r>
              <a:t>- If someone comes up and describes a problem, don't try to solve it on the spot. Instead: "That sounds like a perfect fit for a process audit. Let me get your email and we'll schedule a call this week."</a:t>
            </a:r>
          </a:p>
          <a:p>
            <a:r>
              <a:t>- Follow up within 24 hours with everyone who expressed interest.</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ectangle 1"/>
          <p:cNvSpPr/>
          <p:nvPr/>
        </p:nvSpPr>
        <p:spPr>
          <a:xfrm>
            <a:off x="4114800" y="2377440"/>
            <a:ext cx="3962095" cy="3810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62895" cy="1097280"/>
          </a:xfrm>
          <a:prstGeom prst="rect">
            <a:avLst/>
          </a:prstGeom>
          <a:noFill/>
        </p:spPr>
        <p:txBody>
          <a:bodyPr wrap="square">
            <a:spAutoFit/>
          </a:bodyPr>
          <a:lstStyle/>
          <a:p>
            <a:pPr algn="ctr">
              <a:defRPr sz="2400" b="0">
                <a:solidFill>
                  <a:srgbClr val="BBBBBB"/>
                </a:solidFill>
                <a:latin typeface="Calibri"/>
              </a:defRPr>
            </a:pPr>
            <a:r>
              <a:t>WHY YOUR BUSINESS NEEDS</a:t>
            </a:r>
          </a:p>
        </p:txBody>
      </p:sp>
      <p:sp>
        <p:nvSpPr>
          <p:cNvPr id="4" name="TextBox 3"/>
          <p:cNvSpPr txBox="1"/>
          <p:nvPr/>
        </p:nvSpPr>
        <p:spPr>
          <a:xfrm>
            <a:off x="914400" y="1828800"/>
            <a:ext cx="10362895" cy="1097280"/>
          </a:xfrm>
          <a:prstGeom prst="rect">
            <a:avLst/>
          </a:prstGeom>
          <a:noFill/>
        </p:spPr>
        <p:txBody>
          <a:bodyPr wrap="square">
            <a:spAutoFit/>
          </a:bodyPr>
          <a:lstStyle/>
          <a:p>
            <a:pPr algn="ctr">
              <a:defRPr sz="5200" b="1">
                <a:solidFill>
                  <a:srgbClr val="FFFFFF"/>
                </a:solidFill>
                <a:latin typeface="Calibri"/>
              </a:defRPr>
            </a:pPr>
            <a:r>
              <a:t>AI Automation Today</a:t>
            </a:r>
          </a:p>
        </p:txBody>
      </p:sp>
      <p:sp>
        <p:nvSpPr>
          <p:cNvPr id="5" name="TextBox 4"/>
          <p:cNvSpPr txBox="1"/>
          <p:nvPr/>
        </p:nvSpPr>
        <p:spPr>
          <a:xfrm>
            <a:off x="914400" y="2926080"/>
            <a:ext cx="10362895" cy="731520"/>
          </a:xfrm>
          <a:prstGeom prst="rect">
            <a:avLst/>
          </a:prstGeom>
          <a:noFill/>
        </p:spPr>
        <p:txBody>
          <a:bodyPr wrap="square">
            <a:spAutoFit/>
          </a:bodyPr>
          <a:lstStyle/>
          <a:p>
            <a:pPr algn="ctr">
              <a:defRPr sz="2800" b="0">
                <a:solidFill>
                  <a:srgbClr val="00D4FF"/>
                </a:solidFill>
                <a:latin typeface="Calibri"/>
              </a:defRPr>
            </a:pPr>
            <a:r>
              <a:t>mynewagent.ai</a:t>
            </a:r>
          </a:p>
        </p:txBody>
      </p:sp>
      <p:sp>
        <p:nvSpPr>
          <p:cNvPr id="6" name="TextBox 5"/>
          <p:cNvSpPr txBox="1"/>
          <p:nvPr/>
        </p:nvSpPr>
        <p:spPr>
          <a:xfrm>
            <a:off x="914400" y="5029200"/>
            <a:ext cx="10362895" cy="548640"/>
          </a:xfrm>
          <a:prstGeom prst="rect">
            <a:avLst/>
          </a:prstGeom>
          <a:noFill/>
        </p:spPr>
        <p:txBody>
          <a:bodyPr wrap="square">
            <a:spAutoFit/>
          </a:bodyPr>
          <a:lstStyle/>
          <a:p>
            <a:pPr algn="ctr">
              <a:defRPr sz="1800" b="0">
                <a:solidFill>
                  <a:srgbClr val="BBBBBB"/>
                </a:solidFill>
                <a:latin typeface="Calibri"/>
              </a:defRPr>
            </a:pPr>
            <a:r>
              <a:t>Stop losing money to manual processes. Start building your competitive moat.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TextBox 1"/>
          <p:cNvSpPr txBox="1"/>
          <p:nvPr/>
        </p:nvSpPr>
        <p:spPr>
          <a:xfrm>
            <a:off x="731520" y="365760"/>
            <a:ext cx="10728655" cy="640080"/>
          </a:xfrm>
          <a:prstGeom prst="rect">
            <a:avLst/>
          </a:prstGeom>
          <a:noFill/>
        </p:spPr>
        <p:txBody>
          <a:bodyPr wrap="square">
            <a:spAutoFit/>
          </a:bodyPr>
          <a:lstStyle/>
          <a:p>
            <a:pPr algn="l">
              <a:defRPr sz="3600" b="1">
                <a:solidFill>
                  <a:srgbClr val="FFFFFF"/>
                </a:solidFill>
                <a:latin typeface="Calibri"/>
              </a:defRPr>
            </a:pPr>
            <a:r>
              <a:t>The AI Adoption Lifecycle</a:t>
            </a:r>
          </a:p>
        </p:txBody>
      </p:sp>
      <p:sp>
        <p:nvSpPr>
          <p:cNvPr id="3" name="TextBox 2"/>
          <p:cNvSpPr txBox="1"/>
          <p:nvPr/>
        </p:nvSpPr>
        <p:spPr>
          <a:xfrm>
            <a:off x="731520" y="868680"/>
            <a:ext cx="10728655" cy="457200"/>
          </a:xfrm>
          <a:prstGeom prst="rect">
            <a:avLst/>
          </a:prstGeom>
          <a:noFill/>
        </p:spPr>
        <p:txBody>
          <a:bodyPr wrap="square">
            <a:spAutoFit/>
          </a:bodyPr>
          <a:lstStyle/>
          <a:p>
            <a:pPr algn="l">
              <a:defRPr sz="1800" b="0">
                <a:solidFill>
                  <a:srgbClr val="BBBBBB"/>
                </a:solidFill>
                <a:latin typeface="Calibri"/>
              </a:defRPr>
            </a:pPr>
            <a:r>
              <a:t>Where are we — and what does that mean for your business?</a:t>
            </a:r>
          </a:p>
        </p:txBody>
      </p:sp>
      <p:sp>
        <p:nvSpPr>
          <p:cNvPr id="4" name="Rounded Rectangle 3"/>
          <p:cNvSpPr/>
          <p:nvPr/>
        </p:nvSpPr>
        <p:spPr>
          <a:xfrm>
            <a:off x="914400" y="4389120"/>
            <a:ext cx="1645920" cy="731520"/>
          </a:xfrm>
          <a:prstGeom prst="roundRect">
            <a:avLst/>
          </a:prstGeom>
          <a:solidFill>
            <a:srgbClr val="2D1B6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400" b="1">
                <a:solidFill>
                  <a:srgbClr val="FFFFFF"/>
                </a:solidFill>
                <a:latin typeface="Calibri"/>
              </a:defRPr>
            </a:pPr>
            <a:r>
              <a:t>Innovators</a:t>
            </a:r>
            <a:br/>
            <a:r>
              <a:t>2.5%</a:t>
            </a:r>
          </a:p>
        </p:txBody>
      </p:sp>
      <p:sp>
        <p:nvSpPr>
          <p:cNvPr id="5" name="Rounded Rectangle 4"/>
          <p:cNvSpPr/>
          <p:nvPr/>
        </p:nvSpPr>
        <p:spPr>
          <a:xfrm>
            <a:off x="2743200" y="3959352"/>
            <a:ext cx="1828800" cy="1161288"/>
          </a:xfrm>
          <a:prstGeom prst="roundRect">
            <a:avLst/>
          </a:prstGeom>
          <a:solidFill>
            <a:srgbClr val="00508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400" b="1">
                <a:solidFill>
                  <a:srgbClr val="FFFFFF"/>
                </a:solidFill>
                <a:latin typeface="Calibri"/>
              </a:defRPr>
            </a:pPr>
            <a:r>
              <a:t>Early</a:t>
            </a:r>
            <a:br/>
            <a:r>
              <a:t>Adopters</a:t>
            </a:r>
            <a:br/>
            <a:r>
              <a:t>13.5%</a:t>
            </a:r>
          </a:p>
        </p:txBody>
      </p:sp>
      <p:sp>
        <p:nvSpPr>
          <p:cNvPr id="6" name="Rounded Rectangle 5"/>
          <p:cNvSpPr/>
          <p:nvPr/>
        </p:nvSpPr>
        <p:spPr>
          <a:xfrm>
            <a:off x="4754880" y="2194559"/>
            <a:ext cx="2011680" cy="2926080"/>
          </a:xfrm>
          <a:prstGeom prst="roundRect">
            <a:avLst/>
          </a:prstGeom>
          <a:solidFill>
            <a:srgbClr val="1A4D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400" b="1">
                <a:solidFill>
                  <a:srgbClr val="FFFFFF"/>
                </a:solidFill>
                <a:latin typeface="Calibri"/>
              </a:defRPr>
            </a:pPr>
            <a:r>
              <a:t>Early</a:t>
            </a:r>
            <a:br/>
            <a:r>
              <a:t>Majority</a:t>
            </a:r>
            <a:br/>
            <a:r>
              <a:t>34%</a:t>
            </a:r>
          </a:p>
        </p:txBody>
      </p:sp>
      <p:sp>
        <p:nvSpPr>
          <p:cNvPr id="7" name="Rounded Rectangle 6"/>
          <p:cNvSpPr/>
          <p:nvPr/>
        </p:nvSpPr>
        <p:spPr>
          <a:xfrm>
            <a:off x="6949440" y="2194559"/>
            <a:ext cx="2011680" cy="2926080"/>
          </a:xfrm>
          <a:prstGeom prst="roundRect">
            <a:avLst/>
          </a:prstGeom>
          <a:solidFill>
            <a:srgbClr val="5C3D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400" b="1">
                <a:solidFill>
                  <a:srgbClr val="FFFFFF"/>
                </a:solidFill>
                <a:latin typeface="Calibri"/>
              </a:defRPr>
            </a:pPr>
            <a:r>
              <a:t>Late</a:t>
            </a:r>
            <a:br/>
            <a:r>
              <a:t>Majority</a:t>
            </a:r>
            <a:br/>
            <a:r>
              <a:t>34%</a:t>
            </a:r>
          </a:p>
        </p:txBody>
      </p:sp>
      <p:sp>
        <p:nvSpPr>
          <p:cNvPr id="8" name="Rounded Rectangle 7"/>
          <p:cNvSpPr/>
          <p:nvPr/>
        </p:nvSpPr>
        <p:spPr>
          <a:xfrm>
            <a:off x="9144000" y="3739896"/>
            <a:ext cx="1645920" cy="1380744"/>
          </a:xfrm>
          <a:prstGeom prst="roundRect">
            <a:avLst/>
          </a:prstGeom>
          <a:solidFill>
            <a:srgbClr val="5C1A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400" b="1">
                <a:solidFill>
                  <a:srgbClr val="FFFFFF"/>
                </a:solidFill>
                <a:latin typeface="Calibri"/>
              </a:defRPr>
            </a:pPr>
            <a:r>
              <a:t>Laggards</a:t>
            </a:r>
            <a:br/>
            <a:r>
              <a:t>16%</a:t>
            </a:r>
          </a:p>
        </p:txBody>
      </p:sp>
      <p:sp>
        <p:nvSpPr>
          <p:cNvPr id="9" name="Rounded Rectangle 8"/>
          <p:cNvSpPr/>
          <p:nvPr/>
        </p:nvSpPr>
        <p:spPr>
          <a:xfrm>
            <a:off x="2011680" y="1645920"/>
            <a:ext cx="3200400" cy="548640"/>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800" b="1">
                <a:solidFill>
                  <a:srgbClr val="0F0F23"/>
                </a:solidFill>
                <a:latin typeface="Calibri"/>
              </a:defRPr>
            </a:pPr>
            <a:r>
              <a:t>▼  YOU ARE HERE</a:t>
            </a:r>
          </a:p>
        </p:txBody>
      </p:sp>
      <p:sp>
        <p:nvSpPr>
          <p:cNvPr id="10" name="TextBox 9"/>
          <p:cNvSpPr txBox="1"/>
          <p:nvPr/>
        </p:nvSpPr>
        <p:spPr>
          <a:xfrm>
            <a:off x="731520" y="5394960"/>
            <a:ext cx="5029200" cy="1097280"/>
          </a:xfrm>
          <a:prstGeom prst="rect">
            <a:avLst/>
          </a:prstGeom>
          <a:noFill/>
        </p:spPr>
        <p:txBody>
          <a:bodyPr wrap="square">
            <a:spAutoFit/>
          </a:bodyPr>
          <a:lstStyle/>
          <a:p>
            <a:pPr algn="l">
              <a:defRPr sz="1600" b="0">
                <a:solidFill>
                  <a:srgbClr val="FF6B6B"/>
                </a:solidFill>
                <a:latin typeface="Calibri"/>
              </a:defRPr>
            </a:pPr>
            <a:r>
              <a:t>❌  Option A: Wait &amp; See</a:t>
            </a:r>
            <a:br/>
            <a:r>
              <a:t>Feel safe today. Get left behind tomorrow.</a:t>
            </a:r>
          </a:p>
        </p:txBody>
      </p:sp>
      <p:sp>
        <p:nvSpPr>
          <p:cNvPr id="11" name="TextBox 10"/>
          <p:cNvSpPr txBox="1"/>
          <p:nvPr/>
        </p:nvSpPr>
        <p:spPr>
          <a:xfrm>
            <a:off x="6217920" y="5394960"/>
            <a:ext cx="5029200" cy="1097280"/>
          </a:xfrm>
          <a:prstGeom prst="rect">
            <a:avLst/>
          </a:prstGeom>
          <a:noFill/>
        </p:spPr>
        <p:txBody>
          <a:bodyPr wrap="square">
            <a:spAutoFit/>
          </a:bodyPr>
          <a:lstStyle/>
          <a:p>
            <a:pPr algn="l">
              <a:defRPr sz="1600" b="0">
                <a:solidFill>
                  <a:srgbClr val="00E676"/>
                </a:solidFill>
                <a:latin typeface="Calibri"/>
              </a:defRPr>
            </a:pPr>
            <a:r>
              <a:t>✅  Option B: Move Now</a:t>
            </a:r>
            <a:br/>
            <a:r>
              <a:t>10x–30x efficiency gains. First-mover advantage.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TextBox 1"/>
          <p:cNvSpPr txBox="1"/>
          <p:nvPr/>
        </p:nvSpPr>
        <p:spPr>
          <a:xfrm>
            <a:off x="731520" y="365760"/>
            <a:ext cx="10728655" cy="640080"/>
          </a:xfrm>
          <a:prstGeom prst="rect">
            <a:avLst/>
          </a:prstGeom>
          <a:noFill/>
        </p:spPr>
        <p:txBody>
          <a:bodyPr wrap="square">
            <a:spAutoFit/>
          </a:bodyPr>
          <a:lstStyle/>
          <a:p>
            <a:pPr algn="l">
              <a:defRPr sz="3600" b="1">
                <a:solidFill>
                  <a:srgbClr val="FFFFFF"/>
                </a:solidFill>
                <a:latin typeface="Calibri"/>
              </a:defRPr>
            </a:pPr>
            <a:r>
              <a:t>Agility Over Perfection</a:t>
            </a:r>
          </a:p>
        </p:txBody>
      </p:sp>
      <p:sp>
        <p:nvSpPr>
          <p:cNvPr id="3" name="TextBox 2"/>
          <p:cNvSpPr txBox="1"/>
          <p:nvPr/>
        </p:nvSpPr>
        <p:spPr>
          <a:xfrm>
            <a:off x="731520" y="868680"/>
            <a:ext cx="10728655" cy="457200"/>
          </a:xfrm>
          <a:prstGeom prst="rect">
            <a:avLst/>
          </a:prstGeom>
          <a:noFill/>
        </p:spPr>
        <p:txBody>
          <a:bodyPr wrap="square">
            <a:spAutoFit/>
          </a:bodyPr>
          <a:lstStyle/>
          <a:p>
            <a:pPr algn="l">
              <a:defRPr sz="1800" b="0">
                <a:solidFill>
                  <a:srgbClr val="BBBBBB"/>
                </a:solidFill>
                <a:latin typeface="Calibri"/>
              </a:defRPr>
            </a:pPr>
            <a:r>
              <a:t>The smart way to adopt AI without betting the farm</a:t>
            </a:r>
          </a:p>
        </p:txBody>
      </p:sp>
      <p:sp>
        <p:nvSpPr>
          <p:cNvPr id="4" name="Rounded Rectangle 3"/>
          <p:cNvSpPr/>
          <p:nvPr/>
        </p:nvSpPr>
        <p:spPr>
          <a:xfrm>
            <a:off x="731520" y="1737360"/>
            <a:ext cx="5029200" cy="640080"/>
          </a:xfrm>
          <a:prstGeom prst="roundRect">
            <a:avLst/>
          </a:prstGeom>
          <a:solidFill>
            <a:srgbClr val="5C1A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2000" b="1">
                <a:solidFill>
                  <a:srgbClr val="FF6B6B"/>
                </a:solidFill>
                <a:latin typeface="Calibri"/>
              </a:defRPr>
            </a:pPr>
            <a:r>
              <a:t>❌  THE OLD WAY</a:t>
            </a:r>
          </a:p>
        </p:txBody>
      </p:sp>
      <p:sp>
        <p:nvSpPr>
          <p:cNvPr id="5" name="TextBox 4"/>
          <p:cNvSpPr txBox="1"/>
          <p:nvPr/>
        </p:nvSpPr>
        <p:spPr>
          <a:xfrm>
            <a:off x="731520" y="2560320"/>
            <a:ext cx="5029200" cy="3200400"/>
          </a:xfrm>
          <a:prstGeom prst="rect">
            <a:avLst/>
          </a:prstGeom>
          <a:noFill/>
        </p:spPr>
        <p:txBody>
          <a:bodyPr wrap="square">
            <a:spAutoFit/>
          </a:bodyPr>
          <a:lstStyle/>
          <a:p>
            <a:pPr>
              <a:spcAft>
                <a:spcPts val="800"/>
              </a:spcAft>
            </a:pPr>
            <a:r>
              <a:rPr sz="1700">
                <a:solidFill>
                  <a:srgbClr val="FF6B6B"/>
                </a:solidFill>
                <a:latin typeface="Calibri"/>
              </a:rPr>
              <a:t>▸ </a:t>
            </a:r>
            <a:r>
              <a:rPr sz="1700">
                <a:solidFill>
                  <a:srgbClr val="BBBBBB"/>
                </a:solidFill>
                <a:latin typeface="Calibri"/>
              </a:rPr>
              <a:t>$50K–$100K on custom-coded software</a:t>
            </a:r>
          </a:p>
          <a:p>
            <a:pPr>
              <a:spcAft>
                <a:spcPts val="800"/>
              </a:spcAft>
            </a:pPr>
            <a:r>
              <a:rPr sz="1700">
                <a:solidFill>
                  <a:srgbClr val="FF6B6B"/>
                </a:solidFill>
                <a:latin typeface="Calibri"/>
              </a:rPr>
              <a:t>▸ </a:t>
            </a:r>
            <a:r>
              <a:rPr sz="1700">
                <a:solidFill>
                  <a:srgbClr val="BBBBBB"/>
                </a:solidFill>
                <a:latin typeface="Calibri"/>
              </a:rPr>
              <a:t>6–12 month development timeline</a:t>
            </a:r>
          </a:p>
          <a:p>
            <a:pPr>
              <a:spcAft>
                <a:spcPts val="800"/>
              </a:spcAft>
            </a:pPr>
            <a:r>
              <a:rPr sz="1700">
                <a:solidFill>
                  <a:srgbClr val="FF6B6B"/>
                </a:solidFill>
                <a:latin typeface="Calibri"/>
              </a:rPr>
              <a:t>▸ </a:t>
            </a:r>
            <a:r>
              <a:rPr sz="1700">
                <a:solidFill>
                  <a:srgbClr val="BBBBBB"/>
                </a:solidFill>
                <a:latin typeface="Calibri"/>
              </a:rPr>
              <a:t>Locked into one vendor's proprietary stack</a:t>
            </a:r>
          </a:p>
          <a:p>
            <a:pPr>
              <a:spcAft>
                <a:spcPts val="800"/>
              </a:spcAft>
            </a:pPr>
            <a:r>
              <a:rPr sz="1700">
                <a:solidFill>
                  <a:srgbClr val="FF6B6B"/>
                </a:solidFill>
                <a:latin typeface="Calibri"/>
              </a:rPr>
              <a:t>▸ </a:t>
            </a:r>
            <a:r>
              <a:rPr sz="1700">
                <a:solidFill>
                  <a:srgbClr val="BBBBBB"/>
                </a:solidFill>
                <a:latin typeface="Calibri"/>
              </a:rPr>
              <a:t>Obsolete when the next AI model drops</a:t>
            </a:r>
          </a:p>
          <a:p>
            <a:pPr>
              <a:spcAft>
                <a:spcPts val="800"/>
              </a:spcAft>
            </a:pPr>
            <a:r>
              <a:rPr sz="1700">
                <a:solidFill>
                  <a:srgbClr val="FF6B6B"/>
                </a:solidFill>
                <a:latin typeface="Calibri"/>
              </a:rPr>
              <a:t>▸ </a:t>
            </a:r>
            <a:r>
              <a:rPr sz="1700">
                <a:solidFill>
                  <a:srgbClr val="BBBBBB"/>
                </a:solidFill>
                <a:latin typeface="Calibri"/>
              </a:rPr>
              <a:t>Trapped in a sunk-cost fallacy</a:t>
            </a:r>
          </a:p>
        </p:txBody>
      </p:sp>
      <p:sp>
        <p:nvSpPr>
          <p:cNvPr id="6" name="Rounded Rectangle 5"/>
          <p:cNvSpPr/>
          <p:nvPr/>
        </p:nvSpPr>
        <p:spPr>
          <a:xfrm>
            <a:off x="6400800" y="1737360"/>
            <a:ext cx="5029200" cy="640080"/>
          </a:xfrm>
          <a:prstGeom prst="roundRect">
            <a:avLst/>
          </a:prstGeom>
          <a:solidFill>
            <a:srgbClr val="1A4D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2000" b="1">
                <a:solidFill>
                  <a:srgbClr val="00E676"/>
                </a:solidFill>
                <a:latin typeface="Calibri"/>
              </a:defRPr>
            </a:pPr>
            <a:r>
              <a:t>✅  THE NEW WAY</a:t>
            </a:r>
          </a:p>
        </p:txBody>
      </p:sp>
      <p:sp>
        <p:nvSpPr>
          <p:cNvPr id="7" name="TextBox 6"/>
          <p:cNvSpPr txBox="1"/>
          <p:nvPr/>
        </p:nvSpPr>
        <p:spPr>
          <a:xfrm>
            <a:off x="6400800" y="2560320"/>
            <a:ext cx="5029200" cy="3200400"/>
          </a:xfrm>
          <a:prstGeom prst="rect">
            <a:avLst/>
          </a:prstGeom>
          <a:noFill/>
        </p:spPr>
        <p:txBody>
          <a:bodyPr wrap="square">
            <a:spAutoFit/>
          </a:bodyPr>
          <a:lstStyle/>
          <a:p>
            <a:pPr>
              <a:spcAft>
                <a:spcPts val="800"/>
              </a:spcAft>
            </a:pPr>
            <a:r>
              <a:rPr sz="1700">
                <a:solidFill>
                  <a:srgbClr val="00E676"/>
                </a:solidFill>
                <a:latin typeface="Calibri"/>
              </a:rPr>
              <a:t>▸ </a:t>
            </a:r>
            <a:r>
              <a:rPr sz="1700">
                <a:solidFill>
                  <a:srgbClr val="BBBBBB"/>
                </a:solidFill>
                <a:latin typeface="Calibri"/>
              </a:rPr>
              <a:t>Lean, agile automation on flexible platforms</a:t>
            </a:r>
          </a:p>
          <a:p>
            <a:pPr>
              <a:spcAft>
                <a:spcPts val="800"/>
              </a:spcAft>
            </a:pPr>
            <a:r>
              <a:rPr sz="1700">
                <a:solidFill>
                  <a:srgbClr val="00E676"/>
                </a:solidFill>
                <a:latin typeface="Calibri"/>
              </a:rPr>
              <a:t>▸ </a:t>
            </a:r>
            <a:r>
              <a:rPr sz="1700">
                <a:solidFill>
                  <a:srgbClr val="BBBBBB"/>
                </a:solidFill>
                <a:latin typeface="Calibri"/>
              </a:rPr>
              <a:t>Weeks, not months — fast time to value</a:t>
            </a:r>
          </a:p>
          <a:p>
            <a:pPr>
              <a:spcAft>
                <a:spcPts val="800"/>
              </a:spcAft>
            </a:pPr>
            <a:r>
              <a:rPr sz="1700">
                <a:solidFill>
                  <a:srgbClr val="00E676"/>
                </a:solidFill>
                <a:latin typeface="Calibri"/>
              </a:rPr>
              <a:t>▸ </a:t>
            </a:r>
            <a:r>
              <a:rPr sz="1700">
                <a:solidFill>
                  <a:srgbClr val="BBBBBB"/>
                </a:solidFill>
                <a:latin typeface="Calibri"/>
              </a:rPr>
              <a:t>Built on open tools (n8n, APIs, AI models)</a:t>
            </a:r>
          </a:p>
          <a:p>
            <a:pPr>
              <a:spcAft>
                <a:spcPts val="800"/>
              </a:spcAft>
            </a:pPr>
            <a:r>
              <a:rPr sz="1700">
                <a:solidFill>
                  <a:srgbClr val="00E676"/>
                </a:solidFill>
                <a:latin typeface="Calibri"/>
              </a:rPr>
              <a:t>▸ </a:t>
            </a:r>
            <a:r>
              <a:rPr sz="1700">
                <a:solidFill>
                  <a:srgbClr val="BBBBBB"/>
                </a:solidFill>
                <a:latin typeface="Calibri"/>
              </a:rPr>
              <a:t>Easy to pivot when better AI arrives</a:t>
            </a:r>
          </a:p>
          <a:p>
            <a:pPr>
              <a:spcAft>
                <a:spcPts val="800"/>
              </a:spcAft>
            </a:pPr>
            <a:r>
              <a:rPr sz="1700">
                <a:solidFill>
                  <a:srgbClr val="00E676"/>
                </a:solidFill>
                <a:latin typeface="Calibri"/>
              </a:rPr>
              <a:t>▸ </a:t>
            </a:r>
            <a:r>
              <a:rPr sz="1700">
                <a:solidFill>
                  <a:srgbClr val="BBBBBB"/>
                </a:solidFill>
                <a:latin typeface="Calibri"/>
              </a:rPr>
              <a:t>Fraction of the cost, same outcome</a:t>
            </a:r>
          </a:p>
        </p:txBody>
      </p:sp>
      <p:sp>
        <p:nvSpPr>
          <p:cNvPr id="8" name="Rounded Rectangle 7"/>
          <p:cNvSpPr/>
          <p:nvPr/>
        </p:nvSpPr>
        <p:spPr>
          <a:xfrm>
            <a:off x="2286000" y="5486400"/>
            <a:ext cx="7619695" cy="73152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700" b="1">
                <a:solidFill>
                  <a:srgbClr val="00D4FF"/>
                </a:solidFill>
                <a:latin typeface="Calibri"/>
              </a:defRPr>
            </a:pPr>
            <a:r>
              <a:t>"The goal isn't perfect software. It's the right outcome at the lowest risk."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TextBox 1"/>
          <p:cNvSpPr txBox="1"/>
          <p:nvPr/>
        </p:nvSpPr>
        <p:spPr>
          <a:xfrm>
            <a:off x="731520" y="365760"/>
            <a:ext cx="10728655" cy="640080"/>
          </a:xfrm>
          <a:prstGeom prst="rect">
            <a:avLst/>
          </a:prstGeom>
          <a:noFill/>
        </p:spPr>
        <p:txBody>
          <a:bodyPr wrap="square">
            <a:spAutoFit/>
          </a:bodyPr>
          <a:lstStyle/>
          <a:p>
            <a:pPr algn="l">
              <a:defRPr sz="3600" b="1">
                <a:solidFill>
                  <a:srgbClr val="FFFFFF"/>
                </a:solidFill>
                <a:latin typeface="Calibri"/>
              </a:defRPr>
            </a:pPr>
            <a:r>
              <a:t>Stop Thinking "Cost." Start Thinking "ROI."</a:t>
            </a:r>
          </a:p>
        </p:txBody>
      </p:sp>
      <p:sp>
        <p:nvSpPr>
          <p:cNvPr id="3" name="TextBox 2"/>
          <p:cNvSpPr txBox="1"/>
          <p:nvPr/>
        </p:nvSpPr>
        <p:spPr>
          <a:xfrm>
            <a:off x="731520" y="868680"/>
            <a:ext cx="10728655" cy="457200"/>
          </a:xfrm>
          <a:prstGeom prst="rect">
            <a:avLst/>
          </a:prstGeom>
          <a:noFill/>
        </p:spPr>
        <p:txBody>
          <a:bodyPr wrap="square">
            <a:spAutoFit/>
          </a:bodyPr>
          <a:lstStyle/>
          <a:p>
            <a:pPr algn="l">
              <a:defRPr sz="1800" b="0">
                <a:solidFill>
                  <a:srgbClr val="BBBBBB"/>
                </a:solidFill>
                <a:latin typeface="Calibri"/>
              </a:defRPr>
            </a:pPr>
            <a:r>
              <a:t>Automation isn't a software expense. It's an operational replacement.</a:t>
            </a:r>
          </a:p>
        </p:txBody>
      </p:sp>
      <p:sp>
        <p:nvSpPr>
          <p:cNvPr id="4" name="Rounded Rectangle 3"/>
          <p:cNvSpPr/>
          <p:nvPr/>
        </p:nvSpPr>
        <p:spPr>
          <a:xfrm>
            <a:off x="914400" y="2011680"/>
            <a:ext cx="2743200" cy="182880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2800" b="1">
                <a:solidFill>
                  <a:srgbClr val="00D4FF"/>
                </a:solidFill>
                <a:latin typeface="Calibri"/>
              </a:defRPr>
            </a:pPr>
            <a:r>
              <a:t>$20,000</a:t>
            </a:r>
            <a:br/>
            <a:r>
              <a:t>Implementation</a:t>
            </a:r>
          </a:p>
        </p:txBody>
      </p:sp>
      <p:sp>
        <p:nvSpPr>
          <p:cNvPr id="5" name="TextBox 4"/>
          <p:cNvSpPr txBox="1"/>
          <p:nvPr/>
        </p:nvSpPr>
        <p:spPr>
          <a:xfrm>
            <a:off x="3840480" y="2560320"/>
            <a:ext cx="914400" cy="731520"/>
          </a:xfrm>
          <a:prstGeom prst="rect">
            <a:avLst/>
          </a:prstGeom>
          <a:noFill/>
        </p:spPr>
        <p:txBody>
          <a:bodyPr wrap="square">
            <a:spAutoFit/>
          </a:bodyPr>
          <a:lstStyle/>
          <a:p>
            <a:pPr algn="ctr">
              <a:defRPr sz="4800" b="0">
                <a:solidFill>
                  <a:srgbClr val="00D4FF"/>
                </a:solidFill>
                <a:latin typeface="Calibri"/>
              </a:defRPr>
            </a:pPr>
            <a:r>
              <a:t>➔</a:t>
            </a:r>
          </a:p>
        </p:txBody>
      </p:sp>
      <p:sp>
        <p:nvSpPr>
          <p:cNvPr id="6" name="Rounded Rectangle 5"/>
          <p:cNvSpPr/>
          <p:nvPr/>
        </p:nvSpPr>
        <p:spPr>
          <a:xfrm>
            <a:off x="4754880" y="2011680"/>
            <a:ext cx="2743200" cy="182880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2800" b="1">
                <a:solidFill>
                  <a:srgbClr val="00E676"/>
                </a:solidFill>
                <a:latin typeface="Calibri"/>
              </a:defRPr>
            </a:pPr>
            <a:r>
              <a:t>$60,000</a:t>
            </a:r>
            <a:br/>
            <a:r>
              <a:t>Saved / Year</a:t>
            </a:r>
          </a:p>
        </p:txBody>
      </p:sp>
      <p:sp>
        <p:nvSpPr>
          <p:cNvPr id="7" name="TextBox 6"/>
          <p:cNvSpPr txBox="1"/>
          <p:nvPr/>
        </p:nvSpPr>
        <p:spPr>
          <a:xfrm>
            <a:off x="7680960" y="2560320"/>
            <a:ext cx="914400" cy="731520"/>
          </a:xfrm>
          <a:prstGeom prst="rect">
            <a:avLst/>
          </a:prstGeom>
          <a:noFill/>
        </p:spPr>
        <p:txBody>
          <a:bodyPr wrap="square">
            <a:spAutoFit/>
          </a:bodyPr>
          <a:lstStyle/>
          <a:p>
            <a:pPr algn="ctr">
              <a:defRPr sz="4800" b="0">
                <a:solidFill>
                  <a:srgbClr val="FFD700"/>
                </a:solidFill>
                <a:latin typeface="Calibri"/>
              </a:defRPr>
            </a:pPr>
            <a:r>
              <a:t>=</a:t>
            </a:r>
          </a:p>
        </p:txBody>
      </p:sp>
      <p:sp>
        <p:nvSpPr>
          <p:cNvPr id="8" name="Rounded Rectangle 7"/>
          <p:cNvSpPr/>
          <p:nvPr/>
        </p:nvSpPr>
        <p:spPr>
          <a:xfrm>
            <a:off x="8595360" y="2011680"/>
            <a:ext cx="2743200" cy="1828800"/>
          </a:xfrm>
          <a:prstGeom prst="roundRect">
            <a:avLst/>
          </a:prstGeom>
          <a:solidFill>
            <a:srgbClr val="1A4D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2800" b="1">
                <a:solidFill>
                  <a:srgbClr val="FFD700"/>
                </a:solidFill>
                <a:latin typeface="Calibri"/>
              </a:defRPr>
            </a:pPr>
            <a:r>
              <a:t>$40,000</a:t>
            </a:r>
            <a:br/>
            <a:r>
              <a:t>Net Year 1</a:t>
            </a:r>
          </a:p>
        </p:txBody>
      </p:sp>
      <p:sp>
        <p:nvSpPr>
          <p:cNvPr id="9" name="TextBox 8"/>
          <p:cNvSpPr txBox="1"/>
          <p:nvPr/>
        </p:nvSpPr>
        <p:spPr>
          <a:xfrm>
            <a:off x="914400" y="4206240"/>
            <a:ext cx="10362895" cy="457200"/>
          </a:xfrm>
          <a:prstGeom prst="rect">
            <a:avLst/>
          </a:prstGeom>
          <a:noFill/>
        </p:spPr>
        <p:txBody>
          <a:bodyPr wrap="square">
            <a:spAutoFit/>
          </a:bodyPr>
          <a:lstStyle/>
          <a:p>
            <a:pPr algn="ctr">
              <a:defRPr sz="1800" b="0">
                <a:solidFill>
                  <a:srgbClr val="BBBBBB"/>
                </a:solidFill>
                <a:latin typeface="Calibri"/>
              </a:defRPr>
            </a:pPr>
            <a:r>
              <a:t>Every year after Year 1 is pure profit — the automation keeps working, 24/7, with no salary.</a:t>
            </a:r>
          </a:p>
        </p:txBody>
      </p:sp>
      <p:sp>
        <p:nvSpPr>
          <p:cNvPr id="10" name="Rounded Rectangle 9"/>
          <p:cNvSpPr/>
          <p:nvPr/>
        </p:nvSpPr>
        <p:spPr>
          <a:xfrm>
            <a:off x="1371600" y="5029200"/>
            <a:ext cx="9448495" cy="118872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600" b="1">
                <a:solidFill>
                  <a:srgbClr val="00D4FF"/>
                </a:solidFill>
                <a:latin typeface="Calibri"/>
              </a:defRPr>
            </a:pPr>
            <a:r>
              <a:t>💬  QUESTION FOR THE ROOM</a:t>
            </a:r>
            <a:br/>
            <a:r>
              <a:t>"What is the most repetitive, time-consuming process in your business right now,</a:t>
            </a:r>
            <a:br/>
            <a:r>
              <a:t>and what does it cost you in employee hours per month?"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TextBox 1"/>
          <p:cNvSpPr txBox="1"/>
          <p:nvPr/>
        </p:nvSpPr>
        <p:spPr>
          <a:xfrm>
            <a:off x="731520" y="365760"/>
            <a:ext cx="10728655" cy="640080"/>
          </a:xfrm>
          <a:prstGeom prst="rect">
            <a:avLst/>
          </a:prstGeom>
          <a:noFill/>
        </p:spPr>
        <p:txBody>
          <a:bodyPr wrap="square">
            <a:spAutoFit/>
          </a:bodyPr>
          <a:lstStyle/>
          <a:p>
            <a:pPr algn="l">
              <a:defRPr sz="3600" b="1">
                <a:solidFill>
                  <a:srgbClr val="FFFFFF"/>
                </a:solidFill>
                <a:latin typeface="Calibri"/>
              </a:defRPr>
            </a:pPr>
            <a:r>
              <a:t>A Partner, Not a Vendor</a:t>
            </a:r>
          </a:p>
        </p:txBody>
      </p:sp>
      <p:sp>
        <p:nvSpPr>
          <p:cNvPr id="3" name="TextBox 2"/>
          <p:cNvSpPr txBox="1"/>
          <p:nvPr/>
        </p:nvSpPr>
        <p:spPr>
          <a:xfrm>
            <a:off x="731520" y="868680"/>
            <a:ext cx="10728655" cy="457200"/>
          </a:xfrm>
          <a:prstGeom prst="rect">
            <a:avLst/>
          </a:prstGeom>
          <a:noFill/>
        </p:spPr>
        <p:txBody>
          <a:bodyPr wrap="square">
            <a:spAutoFit/>
          </a:bodyPr>
          <a:lstStyle/>
          <a:p>
            <a:pPr algn="l">
              <a:defRPr sz="1800" b="0">
                <a:solidFill>
                  <a:srgbClr val="BBBBBB"/>
                </a:solidFill>
                <a:latin typeface="Calibri"/>
              </a:defRPr>
            </a:pPr>
            <a:r>
              <a:t>Why we say "no" more than most agencies say "yes"</a:t>
            </a:r>
          </a:p>
        </p:txBody>
      </p:sp>
      <p:sp>
        <p:nvSpPr>
          <p:cNvPr id="4" name="Rounded Rectangle 3"/>
          <p:cNvSpPr/>
          <p:nvPr/>
        </p:nvSpPr>
        <p:spPr>
          <a:xfrm>
            <a:off x="731520" y="1737360"/>
            <a:ext cx="5303520" cy="548640"/>
          </a:xfrm>
          <a:prstGeom prst="roundRect">
            <a:avLst/>
          </a:prstGeom>
          <a:solidFill>
            <a:srgbClr val="5C1A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800" b="1">
                <a:solidFill>
                  <a:srgbClr val="FF6B6B"/>
                </a:solidFill>
                <a:latin typeface="Calibri"/>
              </a:defRPr>
            </a:pPr>
            <a:r>
              <a:t>THE PROBLEM</a:t>
            </a:r>
          </a:p>
        </p:txBody>
      </p:sp>
      <p:sp>
        <p:nvSpPr>
          <p:cNvPr id="5" name="TextBox 4"/>
          <p:cNvSpPr txBox="1"/>
          <p:nvPr/>
        </p:nvSpPr>
        <p:spPr>
          <a:xfrm>
            <a:off x="731520" y="2468880"/>
            <a:ext cx="5303520" cy="2286000"/>
          </a:xfrm>
          <a:prstGeom prst="rect">
            <a:avLst/>
          </a:prstGeom>
          <a:noFill/>
        </p:spPr>
        <p:txBody>
          <a:bodyPr wrap="square">
            <a:spAutoFit/>
          </a:bodyPr>
          <a:lstStyle/>
          <a:p>
            <a:pPr>
              <a:spcAft>
                <a:spcPts val="800"/>
              </a:spcAft>
            </a:pPr>
            <a:r>
              <a:rPr sz="1700">
                <a:solidFill>
                  <a:srgbClr val="FF6B6B"/>
                </a:solidFill>
                <a:latin typeface="Calibri"/>
              </a:rPr>
              <a:t>▸ </a:t>
            </a:r>
            <a:r>
              <a:rPr sz="1700">
                <a:solidFill>
                  <a:srgbClr val="BBBBBB"/>
                </a:solidFill>
                <a:latin typeface="Calibri"/>
              </a:rPr>
              <a:t>Market flooded with "AI guys" overpromising</a:t>
            </a:r>
          </a:p>
          <a:p>
            <a:pPr>
              <a:spcAft>
                <a:spcPts val="800"/>
              </a:spcAft>
            </a:pPr>
            <a:r>
              <a:rPr sz="1700">
                <a:solidFill>
                  <a:srgbClr val="FF6B6B"/>
                </a:solidFill>
                <a:latin typeface="Calibri"/>
              </a:rPr>
              <a:t>▸ </a:t>
            </a:r>
            <a:r>
              <a:rPr sz="1700">
                <a:solidFill>
                  <a:srgbClr val="BBBBBB"/>
                </a:solidFill>
                <a:latin typeface="Calibri"/>
              </a:rPr>
              <a:t>Template solutions sold as custom work</a:t>
            </a:r>
          </a:p>
          <a:p>
            <a:pPr>
              <a:spcAft>
                <a:spcPts val="800"/>
              </a:spcAft>
            </a:pPr>
            <a:r>
              <a:rPr sz="1700">
                <a:solidFill>
                  <a:srgbClr val="FF6B6B"/>
                </a:solidFill>
                <a:latin typeface="Calibri"/>
              </a:rPr>
              <a:t>▸ </a:t>
            </a:r>
            <a:r>
              <a:rPr sz="1700">
                <a:solidFill>
                  <a:srgbClr val="BBBBBB"/>
                </a:solidFill>
                <a:latin typeface="Calibri"/>
              </a:rPr>
              <a:t>No accountability when it doesn't deliver</a:t>
            </a:r>
          </a:p>
          <a:p>
            <a:pPr>
              <a:spcAft>
                <a:spcPts val="800"/>
              </a:spcAft>
            </a:pPr>
            <a:r>
              <a:rPr sz="1700">
                <a:solidFill>
                  <a:srgbClr val="FF6B6B"/>
                </a:solidFill>
                <a:latin typeface="Calibri"/>
              </a:rPr>
              <a:t>▸ </a:t>
            </a:r>
            <a:r>
              <a:rPr sz="1700">
                <a:solidFill>
                  <a:srgbClr val="BBBBBB"/>
                </a:solidFill>
                <a:latin typeface="Calibri"/>
              </a:rPr>
              <a:t>You're left holding the bag</a:t>
            </a:r>
          </a:p>
        </p:txBody>
      </p:sp>
      <p:sp>
        <p:nvSpPr>
          <p:cNvPr id="6" name="Rounded Rectangle 5"/>
          <p:cNvSpPr/>
          <p:nvPr/>
        </p:nvSpPr>
        <p:spPr>
          <a:xfrm>
            <a:off x="6400800" y="1737360"/>
            <a:ext cx="5029200" cy="548640"/>
          </a:xfrm>
          <a:prstGeom prst="roundRect">
            <a:avLst/>
          </a:prstGeom>
          <a:solidFill>
            <a:srgbClr val="00508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800" b="1">
                <a:solidFill>
                  <a:srgbClr val="00D4FF"/>
                </a:solidFill>
                <a:latin typeface="Calibri"/>
              </a:defRPr>
            </a:pPr>
            <a:r>
              <a:t>OUR APPROACH</a:t>
            </a:r>
          </a:p>
        </p:txBody>
      </p:sp>
      <p:sp>
        <p:nvSpPr>
          <p:cNvPr id="7" name="TextBox 6"/>
          <p:cNvSpPr txBox="1"/>
          <p:nvPr/>
        </p:nvSpPr>
        <p:spPr>
          <a:xfrm>
            <a:off x="6400800" y="2468880"/>
            <a:ext cx="5029200" cy="2286000"/>
          </a:xfrm>
          <a:prstGeom prst="rect">
            <a:avLst/>
          </a:prstGeom>
          <a:noFill/>
        </p:spPr>
        <p:txBody>
          <a:bodyPr wrap="square">
            <a:spAutoFit/>
          </a:bodyPr>
          <a:lstStyle/>
          <a:p>
            <a:pPr>
              <a:spcAft>
                <a:spcPts val="800"/>
              </a:spcAft>
            </a:pPr>
            <a:r>
              <a:rPr sz="1700">
                <a:solidFill>
                  <a:srgbClr val="00D4FF"/>
                </a:solidFill>
                <a:latin typeface="Calibri"/>
              </a:rPr>
              <a:t>▸ </a:t>
            </a:r>
            <a:r>
              <a:rPr sz="1700">
                <a:solidFill>
                  <a:srgbClr val="BBBBBB"/>
                </a:solidFill>
                <a:latin typeface="Calibri"/>
              </a:rPr>
              <a:t>We audit first — understand before building</a:t>
            </a:r>
          </a:p>
          <a:p>
            <a:pPr>
              <a:spcAft>
                <a:spcPts val="800"/>
              </a:spcAft>
            </a:pPr>
            <a:r>
              <a:rPr sz="1700">
                <a:solidFill>
                  <a:srgbClr val="00D4FF"/>
                </a:solidFill>
                <a:latin typeface="Calibri"/>
              </a:rPr>
              <a:t>▸ </a:t>
            </a:r>
            <a:r>
              <a:rPr sz="1700">
                <a:solidFill>
                  <a:srgbClr val="BBBBBB"/>
                </a:solidFill>
                <a:latin typeface="Calibri"/>
              </a:rPr>
              <a:t>If AI isn't right for you, we say so</a:t>
            </a:r>
          </a:p>
          <a:p>
            <a:pPr>
              <a:spcAft>
                <a:spcPts val="800"/>
              </a:spcAft>
            </a:pPr>
            <a:r>
              <a:rPr sz="1700">
                <a:solidFill>
                  <a:srgbClr val="00D4FF"/>
                </a:solidFill>
                <a:latin typeface="Calibri"/>
              </a:rPr>
              <a:t>▸ </a:t>
            </a:r>
            <a:r>
              <a:rPr sz="1700">
                <a:solidFill>
                  <a:srgbClr val="BBBBBB"/>
                </a:solidFill>
                <a:latin typeface="Calibri"/>
              </a:rPr>
              <a:t>Custom solutions based on YOUR processes</a:t>
            </a:r>
          </a:p>
          <a:p>
            <a:pPr>
              <a:spcAft>
                <a:spcPts val="800"/>
              </a:spcAft>
            </a:pPr>
            <a:r>
              <a:rPr sz="1700">
                <a:solidFill>
                  <a:srgbClr val="00D4FF"/>
                </a:solidFill>
                <a:latin typeface="Calibri"/>
              </a:rPr>
              <a:t>▸ </a:t>
            </a:r>
            <a:r>
              <a:rPr sz="1700">
                <a:solidFill>
                  <a:srgbClr val="BBBBBB"/>
                </a:solidFill>
                <a:latin typeface="Calibri"/>
              </a:rPr>
              <a:t>Ongoing advisory, not just delivery</a:t>
            </a:r>
          </a:p>
        </p:txBody>
      </p:sp>
      <p:sp>
        <p:nvSpPr>
          <p:cNvPr id="8" name="Rounded Rectangle 7"/>
          <p:cNvSpPr/>
          <p:nvPr/>
        </p:nvSpPr>
        <p:spPr>
          <a:xfrm>
            <a:off x="1371600" y="4937760"/>
            <a:ext cx="9448495" cy="128016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2000" b="1">
                <a:solidFill>
                  <a:srgbClr val="FFFFFF"/>
                </a:solidFill>
                <a:latin typeface="Calibri"/>
              </a:defRPr>
            </a:pPr>
            <a:r>
              <a:t>"If an AI solution isn't right for your current setup,</a:t>
            </a:r>
            <a:br/>
            <a:r>
              <a:t>I will tell you NO. My reputation matters more than a quick sale."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TextBox 1"/>
          <p:cNvSpPr txBox="1"/>
          <p:nvPr/>
        </p:nvSpPr>
        <p:spPr>
          <a:xfrm>
            <a:off x="731520" y="365760"/>
            <a:ext cx="10728655" cy="640080"/>
          </a:xfrm>
          <a:prstGeom prst="rect">
            <a:avLst/>
          </a:prstGeom>
          <a:noFill/>
        </p:spPr>
        <p:txBody>
          <a:bodyPr wrap="square">
            <a:spAutoFit/>
          </a:bodyPr>
          <a:lstStyle/>
          <a:p>
            <a:pPr algn="l">
              <a:defRPr sz="3600" b="1">
                <a:solidFill>
                  <a:srgbClr val="FFFFFF"/>
                </a:solidFill>
                <a:latin typeface="Calibri"/>
              </a:defRPr>
            </a:pPr>
            <a:r>
              <a:t>How We Work With You</a:t>
            </a:r>
          </a:p>
        </p:txBody>
      </p:sp>
      <p:sp>
        <p:nvSpPr>
          <p:cNvPr id="3" name="TextBox 2"/>
          <p:cNvSpPr txBox="1"/>
          <p:nvPr/>
        </p:nvSpPr>
        <p:spPr>
          <a:xfrm>
            <a:off x="731520" y="868680"/>
            <a:ext cx="10728655" cy="457200"/>
          </a:xfrm>
          <a:prstGeom prst="rect">
            <a:avLst/>
          </a:prstGeom>
          <a:noFill/>
        </p:spPr>
        <p:txBody>
          <a:bodyPr wrap="square">
            <a:spAutoFit/>
          </a:bodyPr>
          <a:lstStyle/>
          <a:p>
            <a:pPr algn="l">
              <a:defRPr sz="1800" b="0">
                <a:solidFill>
                  <a:srgbClr val="BBBBBB"/>
                </a:solidFill>
                <a:latin typeface="Calibri"/>
              </a:defRPr>
            </a:pPr>
            <a:r>
              <a:t>From first conversation to fully automated operations</a:t>
            </a:r>
          </a:p>
        </p:txBody>
      </p:sp>
      <p:sp>
        <p:nvSpPr>
          <p:cNvPr id="4" name="Rounded Rectangle 3"/>
          <p:cNvSpPr/>
          <p:nvPr/>
        </p:nvSpPr>
        <p:spPr>
          <a:xfrm>
            <a:off x="274320" y="1554480"/>
            <a:ext cx="2103120" cy="457200"/>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500" b="1">
                <a:solidFill>
                  <a:srgbClr val="00D4FF"/>
                </a:solidFill>
                <a:latin typeface="Calibri"/>
              </a:defRPr>
            </a:pPr>
            <a:r>
              <a:t>1. Discover</a:t>
            </a:r>
          </a:p>
        </p:txBody>
      </p:sp>
      <p:sp>
        <p:nvSpPr>
          <p:cNvPr id="5" name="TextBox 4"/>
          <p:cNvSpPr txBox="1"/>
          <p:nvPr/>
        </p:nvSpPr>
        <p:spPr>
          <a:xfrm>
            <a:off x="365760" y="2103120"/>
            <a:ext cx="1920240" cy="640080"/>
          </a:xfrm>
          <a:prstGeom prst="rect">
            <a:avLst/>
          </a:prstGeom>
          <a:noFill/>
        </p:spPr>
        <p:txBody>
          <a:bodyPr wrap="square">
            <a:spAutoFit/>
          </a:bodyPr>
          <a:lstStyle/>
          <a:p>
            <a:pPr algn="l">
              <a:defRPr sz="1200" b="0">
                <a:solidFill>
                  <a:srgbClr val="BBBBBB"/>
                </a:solidFill>
                <a:latin typeface="Calibri"/>
              </a:defRPr>
            </a:pPr>
            <a:r>
              <a:t>Learn how your business</a:t>
            </a:r>
            <a:br/>
            <a:r>
              <a:t>actually runs, day to day.</a:t>
            </a:r>
          </a:p>
        </p:txBody>
      </p:sp>
      <p:sp>
        <p:nvSpPr>
          <p:cNvPr id="6" name="TextBox 5"/>
          <p:cNvSpPr txBox="1"/>
          <p:nvPr/>
        </p:nvSpPr>
        <p:spPr>
          <a:xfrm>
            <a:off x="365760" y="2834640"/>
            <a:ext cx="1920240" cy="274320"/>
          </a:xfrm>
          <a:prstGeom prst="rect">
            <a:avLst/>
          </a:prstGeom>
          <a:noFill/>
        </p:spPr>
        <p:txBody>
          <a:bodyPr wrap="square">
            <a:spAutoFit/>
          </a:bodyPr>
          <a:lstStyle/>
          <a:p>
            <a:pPr algn="l">
              <a:defRPr sz="1200" b="1">
                <a:solidFill>
                  <a:srgbClr val="00D4FF"/>
                </a:solidFill>
                <a:latin typeface="Calibri"/>
              </a:defRPr>
            </a:pPr>
            <a:r>
              <a:t>You get:</a:t>
            </a:r>
          </a:p>
        </p:txBody>
      </p:sp>
      <p:sp>
        <p:nvSpPr>
          <p:cNvPr id="7" name="TextBox 6"/>
          <p:cNvSpPr txBox="1"/>
          <p:nvPr/>
        </p:nvSpPr>
        <p:spPr>
          <a:xfrm>
            <a:off x="365760" y="3108960"/>
            <a:ext cx="1920240" cy="2286000"/>
          </a:xfrm>
          <a:prstGeom prst="rect">
            <a:avLst/>
          </a:prstGeom>
          <a:noFill/>
        </p:spPr>
        <p:txBody>
          <a:bodyPr wrap="square">
            <a:spAutoFit/>
          </a:bodyPr>
          <a:lstStyle/>
          <a:p>
            <a:pPr>
              <a:spcAft>
                <a:spcPts val="800"/>
              </a:spcAft>
            </a:pPr>
            <a:r>
              <a:rPr sz="1100">
                <a:solidFill>
                  <a:srgbClr val="00D4FF"/>
                </a:solidFill>
                <a:latin typeface="Calibri"/>
              </a:rPr>
              <a:t>▸ </a:t>
            </a:r>
            <a:r>
              <a:rPr sz="1100">
                <a:solidFill>
                  <a:srgbClr val="BBBBBB"/>
                </a:solidFill>
                <a:latin typeface="Calibri"/>
              </a:rPr>
              <a:t>Tailored discovery session</a:t>
            </a:r>
          </a:p>
          <a:p>
            <a:pPr>
              <a:spcAft>
                <a:spcPts val="800"/>
              </a:spcAft>
            </a:pPr>
            <a:r>
              <a:rPr sz="1100">
                <a:solidFill>
                  <a:srgbClr val="00D4FF"/>
                </a:solidFill>
                <a:latin typeface="Calibri"/>
              </a:rPr>
              <a:t>▸ </a:t>
            </a:r>
            <a:r>
              <a:rPr sz="1100">
                <a:solidFill>
                  <a:srgbClr val="BBBBBB"/>
                </a:solidFill>
                <a:latin typeface="Calibri"/>
              </a:rPr>
              <a:t>Full process audit</a:t>
            </a:r>
          </a:p>
          <a:p>
            <a:pPr>
              <a:spcAft>
                <a:spcPts val="800"/>
              </a:spcAft>
            </a:pPr>
            <a:r>
              <a:rPr sz="1100">
                <a:solidFill>
                  <a:srgbClr val="00D4FF"/>
                </a:solidFill>
                <a:latin typeface="Calibri"/>
              </a:rPr>
              <a:t>▸ </a:t>
            </a:r>
            <a:r>
              <a:rPr sz="1100">
                <a:solidFill>
                  <a:srgbClr val="BBBBBB"/>
                </a:solidFill>
                <a:latin typeface="Calibri"/>
              </a:rPr>
              <a:t>Priority pain point ranking</a:t>
            </a:r>
          </a:p>
        </p:txBody>
      </p:sp>
      <p:sp>
        <p:nvSpPr>
          <p:cNvPr id="8" name="TextBox 7"/>
          <p:cNvSpPr txBox="1"/>
          <p:nvPr/>
        </p:nvSpPr>
        <p:spPr>
          <a:xfrm>
            <a:off x="2377440" y="1600200"/>
            <a:ext cx="274320" cy="365760"/>
          </a:xfrm>
          <a:prstGeom prst="rect">
            <a:avLst/>
          </a:prstGeom>
          <a:noFill/>
        </p:spPr>
        <p:txBody>
          <a:bodyPr wrap="square">
            <a:spAutoFit/>
          </a:bodyPr>
          <a:lstStyle/>
          <a:p>
            <a:pPr algn="ctr">
              <a:defRPr sz="1800" b="0">
                <a:solidFill>
                  <a:srgbClr val="BBBBBB"/>
                </a:solidFill>
                <a:latin typeface="Calibri"/>
              </a:defRPr>
            </a:pPr>
            <a:r>
              <a:t>➔</a:t>
            </a:r>
          </a:p>
        </p:txBody>
      </p:sp>
      <p:sp>
        <p:nvSpPr>
          <p:cNvPr id="9" name="Rounded Rectangle 8"/>
          <p:cNvSpPr/>
          <p:nvPr/>
        </p:nvSpPr>
        <p:spPr>
          <a:xfrm>
            <a:off x="2651760" y="1554480"/>
            <a:ext cx="2103120" cy="457200"/>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500" b="1">
                <a:solidFill>
                  <a:srgbClr val="00D4FF"/>
                </a:solidFill>
                <a:latin typeface="Calibri"/>
              </a:defRPr>
            </a:pPr>
            <a:r>
              <a:t>2. Map SOPs</a:t>
            </a:r>
          </a:p>
        </p:txBody>
      </p:sp>
      <p:sp>
        <p:nvSpPr>
          <p:cNvPr id="10" name="TextBox 9"/>
          <p:cNvSpPr txBox="1"/>
          <p:nvPr/>
        </p:nvSpPr>
        <p:spPr>
          <a:xfrm>
            <a:off x="2743200" y="2103120"/>
            <a:ext cx="1920240" cy="640080"/>
          </a:xfrm>
          <a:prstGeom prst="rect">
            <a:avLst/>
          </a:prstGeom>
          <a:noFill/>
        </p:spPr>
        <p:txBody>
          <a:bodyPr wrap="square">
            <a:spAutoFit/>
          </a:bodyPr>
          <a:lstStyle/>
          <a:p>
            <a:pPr algn="l">
              <a:defRPr sz="1200" b="0">
                <a:solidFill>
                  <a:srgbClr val="BBBBBB"/>
                </a:solidFill>
                <a:latin typeface="Calibri"/>
              </a:defRPr>
            </a:pPr>
            <a:r>
              <a:t>Document every step,</a:t>
            </a:r>
            <a:br/>
            <a:r>
              <a:t>every handoff, every bottleneck.</a:t>
            </a:r>
          </a:p>
        </p:txBody>
      </p:sp>
      <p:sp>
        <p:nvSpPr>
          <p:cNvPr id="11" name="TextBox 10"/>
          <p:cNvSpPr txBox="1"/>
          <p:nvPr/>
        </p:nvSpPr>
        <p:spPr>
          <a:xfrm>
            <a:off x="2743200" y="2834640"/>
            <a:ext cx="1920240" cy="274320"/>
          </a:xfrm>
          <a:prstGeom prst="rect">
            <a:avLst/>
          </a:prstGeom>
          <a:noFill/>
        </p:spPr>
        <p:txBody>
          <a:bodyPr wrap="square">
            <a:spAutoFit/>
          </a:bodyPr>
          <a:lstStyle/>
          <a:p>
            <a:pPr algn="l">
              <a:defRPr sz="1200" b="1">
                <a:solidFill>
                  <a:srgbClr val="00D4FF"/>
                </a:solidFill>
                <a:latin typeface="Calibri"/>
              </a:defRPr>
            </a:pPr>
            <a:r>
              <a:t>You get:</a:t>
            </a:r>
          </a:p>
        </p:txBody>
      </p:sp>
      <p:sp>
        <p:nvSpPr>
          <p:cNvPr id="12" name="TextBox 11"/>
          <p:cNvSpPr txBox="1"/>
          <p:nvPr/>
        </p:nvSpPr>
        <p:spPr>
          <a:xfrm>
            <a:off x="2743200" y="3108960"/>
            <a:ext cx="1920240" cy="2286000"/>
          </a:xfrm>
          <a:prstGeom prst="rect">
            <a:avLst/>
          </a:prstGeom>
          <a:noFill/>
        </p:spPr>
        <p:txBody>
          <a:bodyPr wrap="square">
            <a:spAutoFit/>
          </a:bodyPr>
          <a:lstStyle/>
          <a:p>
            <a:pPr>
              <a:spcAft>
                <a:spcPts val="800"/>
              </a:spcAft>
            </a:pPr>
            <a:r>
              <a:rPr sz="1100">
                <a:solidFill>
                  <a:srgbClr val="00D4FF"/>
                </a:solidFill>
                <a:latin typeface="Calibri"/>
              </a:rPr>
              <a:t>▸ </a:t>
            </a:r>
            <a:r>
              <a:rPr sz="1100">
                <a:solidFill>
                  <a:srgbClr val="BBBBBB"/>
                </a:solidFill>
                <a:latin typeface="Calibri"/>
              </a:rPr>
              <a:t>Step-by-step SOPs</a:t>
            </a:r>
          </a:p>
          <a:p>
            <a:pPr>
              <a:spcAft>
                <a:spcPts val="800"/>
              </a:spcAft>
            </a:pPr>
            <a:r>
              <a:rPr sz="1100">
                <a:solidFill>
                  <a:srgbClr val="00D4FF"/>
                </a:solidFill>
                <a:latin typeface="Calibri"/>
              </a:rPr>
              <a:t>▸ </a:t>
            </a:r>
            <a:r>
              <a:rPr sz="1100">
                <a:solidFill>
                  <a:srgbClr val="BBBBBB"/>
                </a:solidFill>
                <a:latin typeface="Calibri"/>
              </a:rPr>
              <a:t>Time + cost at every step</a:t>
            </a:r>
          </a:p>
          <a:p>
            <a:pPr>
              <a:spcAft>
                <a:spcPts val="800"/>
              </a:spcAft>
            </a:pPr>
            <a:r>
              <a:rPr sz="1100">
                <a:solidFill>
                  <a:srgbClr val="00D4FF"/>
                </a:solidFill>
                <a:latin typeface="Calibri"/>
              </a:rPr>
              <a:t>▸ </a:t>
            </a:r>
            <a:r>
              <a:rPr sz="1100">
                <a:solidFill>
                  <a:srgbClr val="BBBBBB"/>
                </a:solidFill>
                <a:latin typeface="Calibri"/>
              </a:rPr>
              <a:t>Automation ratings per task</a:t>
            </a:r>
          </a:p>
        </p:txBody>
      </p:sp>
      <p:sp>
        <p:nvSpPr>
          <p:cNvPr id="13" name="TextBox 12"/>
          <p:cNvSpPr txBox="1"/>
          <p:nvPr/>
        </p:nvSpPr>
        <p:spPr>
          <a:xfrm>
            <a:off x="4754880" y="1600200"/>
            <a:ext cx="274320" cy="365760"/>
          </a:xfrm>
          <a:prstGeom prst="rect">
            <a:avLst/>
          </a:prstGeom>
          <a:noFill/>
        </p:spPr>
        <p:txBody>
          <a:bodyPr wrap="square">
            <a:spAutoFit/>
          </a:bodyPr>
          <a:lstStyle/>
          <a:p>
            <a:pPr algn="ctr">
              <a:defRPr sz="1800" b="0">
                <a:solidFill>
                  <a:srgbClr val="BBBBBB"/>
                </a:solidFill>
                <a:latin typeface="Calibri"/>
              </a:defRPr>
            </a:pPr>
            <a:r>
              <a:t>➔</a:t>
            </a:r>
          </a:p>
        </p:txBody>
      </p:sp>
      <p:sp>
        <p:nvSpPr>
          <p:cNvPr id="14" name="Rounded Rectangle 13"/>
          <p:cNvSpPr/>
          <p:nvPr/>
        </p:nvSpPr>
        <p:spPr>
          <a:xfrm>
            <a:off x="5029200" y="1554480"/>
            <a:ext cx="2103120" cy="457200"/>
          </a:xfrm>
          <a:prstGeom prst="roundRect">
            <a:avLst/>
          </a:prstGeom>
          <a:solidFill>
            <a:srgbClr val="5C3D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500" b="1">
                <a:solidFill>
                  <a:srgbClr val="FFD700"/>
                </a:solidFill>
                <a:latin typeface="Calibri"/>
              </a:defRPr>
            </a:pPr>
            <a:r>
              <a:t>3. Identify</a:t>
            </a:r>
            <a:br/>
            <a:r>
              <a:t>Savings</a:t>
            </a:r>
          </a:p>
        </p:txBody>
      </p:sp>
      <p:sp>
        <p:nvSpPr>
          <p:cNvPr id="15" name="TextBox 14"/>
          <p:cNvSpPr txBox="1"/>
          <p:nvPr/>
        </p:nvSpPr>
        <p:spPr>
          <a:xfrm>
            <a:off x="5120640" y="2103120"/>
            <a:ext cx="1920240" cy="640080"/>
          </a:xfrm>
          <a:prstGeom prst="rect">
            <a:avLst/>
          </a:prstGeom>
          <a:noFill/>
        </p:spPr>
        <p:txBody>
          <a:bodyPr wrap="square">
            <a:spAutoFit/>
          </a:bodyPr>
          <a:lstStyle/>
          <a:p>
            <a:pPr algn="l">
              <a:defRPr sz="1200" b="0">
                <a:solidFill>
                  <a:srgbClr val="BBBBBB"/>
                </a:solidFill>
                <a:latin typeface="Calibri"/>
              </a:defRPr>
            </a:pPr>
            <a:r>
              <a:t>Calculate exactly where</a:t>
            </a:r>
            <a:br/>
            <a:r>
              <a:t>time and money are leaking.</a:t>
            </a:r>
          </a:p>
        </p:txBody>
      </p:sp>
      <p:sp>
        <p:nvSpPr>
          <p:cNvPr id="16" name="TextBox 15"/>
          <p:cNvSpPr txBox="1"/>
          <p:nvPr/>
        </p:nvSpPr>
        <p:spPr>
          <a:xfrm>
            <a:off x="5120640" y="2834640"/>
            <a:ext cx="1920240" cy="274320"/>
          </a:xfrm>
          <a:prstGeom prst="rect">
            <a:avLst/>
          </a:prstGeom>
          <a:noFill/>
        </p:spPr>
        <p:txBody>
          <a:bodyPr wrap="square">
            <a:spAutoFit/>
          </a:bodyPr>
          <a:lstStyle/>
          <a:p>
            <a:pPr algn="l">
              <a:defRPr sz="1200" b="1">
                <a:solidFill>
                  <a:srgbClr val="FFD700"/>
                </a:solidFill>
                <a:latin typeface="Calibri"/>
              </a:defRPr>
            </a:pPr>
            <a:r>
              <a:t>You get:</a:t>
            </a:r>
          </a:p>
        </p:txBody>
      </p:sp>
      <p:sp>
        <p:nvSpPr>
          <p:cNvPr id="17" name="TextBox 16"/>
          <p:cNvSpPr txBox="1"/>
          <p:nvPr/>
        </p:nvSpPr>
        <p:spPr>
          <a:xfrm>
            <a:off x="5120640" y="3108960"/>
            <a:ext cx="1920240" cy="2286000"/>
          </a:xfrm>
          <a:prstGeom prst="rect">
            <a:avLst/>
          </a:prstGeom>
          <a:noFill/>
        </p:spPr>
        <p:txBody>
          <a:bodyPr wrap="square">
            <a:spAutoFit/>
          </a:bodyPr>
          <a:lstStyle/>
          <a:p>
            <a:pPr>
              <a:spcAft>
                <a:spcPts val="800"/>
              </a:spcAft>
            </a:pPr>
            <a:r>
              <a:rPr sz="1100">
                <a:solidFill>
                  <a:srgbClr val="FFD700"/>
                </a:solidFill>
                <a:latin typeface="Calibri"/>
              </a:rPr>
              <a:t>▸ </a:t>
            </a:r>
            <a:r>
              <a:rPr sz="1100">
                <a:solidFill>
                  <a:srgbClr val="BBBBBB"/>
                </a:solidFill>
                <a:latin typeface="Calibri"/>
              </a:rPr>
              <a:t>Before/after process diagrams</a:t>
            </a:r>
          </a:p>
          <a:p>
            <a:pPr>
              <a:spcAft>
                <a:spcPts val="800"/>
              </a:spcAft>
            </a:pPr>
            <a:r>
              <a:rPr sz="1100">
                <a:solidFill>
                  <a:srgbClr val="FFD700"/>
                </a:solidFill>
                <a:latin typeface="Calibri"/>
              </a:rPr>
              <a:t>▸ </a:t>
            </a:r>
            <a:r>
              <a:rPr sz="1100">
                <a:solidFill>
                  <a:srgbClr val="BBBBBB"/>
                </a:solidFill>
                <a:latin typeface="Calibri"/>
              </a:rPr>
              <a:t>Dollar value per automation</a:t>
            </a:r>
          </a:p>
          <a:p>
            <a:pPr>
              <a:spcAft>
                <a:spcPts val="800"/>
              </a:spcAft>
            </a:pPr>
            <a:r>
              <a:rPr sz="1100">
                <a:solidFill>
                  <a:srgbClr val="FFD700"/>
                </a:solidFill>
                <a:latin typeface="Calibri"/>
              </a:rPr>
              <a:t>▸ </a:t>
            </a:r>
            <a:r>
              <a:rPr sz="1100">
                <a:solidFill>
                  <a:srgbClr val="BBBBBB"/>
                </a:solidFill>
                <a:latin typeface="Calibri"/>
              </a:rPr>
              <a:t>Clear ROI breakdown</a:t>
            </a:r>
          </a:p>
        </p:txBody>
      </p:sp>
      <p:sp>
        <p:nvSpPr>
          <p:cNvPr id="18" name="TextBox 17"/>
          <p:cNvSpPr txBox="1"/>
          <p:nvPr/>
        </p:nvSpPr>
        <p:spPr>
          <a:xfrm>
            <a:off x="7132320" y="1600200"/>
            <a:ext cx="274320" cy="365760"/>
          </a:xfrm>
          <a:prstGeom prst="rect">
            <a:avLst/>
          </a:prstGeom>
          <a:noFill/>
        </p:spPr>
        <p:txBody>
          <a:bodyPr wrap="square">
            <a:spAutoFit/>
          </a:bodyPr>
          <a:lstStyle/>
          <a:p>
            <a:pPr algn="ctr">
              <a:defRPr sz="1800" b="0">
                <a:solidFill>
                  <a:srgbClr val="BBBBBB"/>
                </a:solidFill>
                <a:latin typeface="Calibri"/>
              </a:defRPr>
            </a:pPr>
            <a:r>
              <a:t>➔</a:t>
            </a:r>
          </a:p>
        </p:txBody>
      </p:sp>
      <p:sp>
        <p:nvSpPr>
          <p:cNvPr id="19" name="Rounded Rectangle 18"/>
          <p:cNvSpPr/>
          <p:nvPr/>
        </p:nvSpPr>
        <p:spPr>
          <a:xfrm>
            <a:off x="7406640" y="1554480"/>
            <a:ext cx="2103120" cy="457200"/>
          </a:xfrm>
          <a:prstGeom prst="roundRect">
            <a:avLst/>
          </a:prstGeom>
          <a:solidFill>
            <a:srgbClr val="1A4D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500" b="1">
                <a:solidFill>
                  <a:srgbClr val="00E676"/>
                </a:solidFill>
                <a:latin typeface="Calibri"/>
              </a:defRPr>
            </a:pPr>
            <a:r>
              <a:t>4. Build It</a:t>
            </a:r>
          </a:p>
        </p:txBody>
      </p:sp>
      <p:sp>
        <p:nvSpPr>
          <p:cNvPr id="20" name="TextBox 19"/>
          <p:cNvSpPr txBox="1"/>
          <p:nvPr/>
        </p:nvSpPr>
        <p:spPr>
          <a:xfrm>
            <a:off x="7498080" y="2103120"/>
            <a:ext cx="1920240" cy="640080"/>
          </a:xfrm>
          <a:prstGeom prst="rect">
            <a:avLst/>
          </a:prstGeom>
          <a:noFill/>
        </p:spPr>
        <p:txBody>
          <a:bodyPr wrap="square">
            <a:spAutoFit/>
          </a:bodyPr>
          <a:lstStyle/>
          <a:p>
            <a:pPr algn="l">
              <a:defRPr sz="1200" b="0">
                <a:solidFill>
                  <a:srgbClr val="BBBBBB"/>
                </a:solidFill>
                <a:latin typeface="Calibri"/>
              </a:defRPr>
            </a:pPr>
            <a:r>
              <a:t>Build, test, and iterate</a:t>
            </a:r>
            <a:br/>
            <a:r>
              <a:t>using your real data.</a:t>
            </a:r>
          </a:p>
        </p:txBody>
      </p:sp>
      <p:sp>
        <p:nvSpPr>
          <p:cNvPr id="21" name="TextBox 20"/>
          <p:cNvSpPr txBox="1"/>
          <p:nvPr/>
        </p:nvSpPr>
        <p:spPr>
          <a:xfrm>
            <a:off x="7498080" y="2834640"/>
            <a:ext cx="1920240" cy="274320"/>
          </a:xfrm>
          <a:prstGeom prst="rect">
            <a:avLst/>
          </a:prstGeom>
          <a:noFill/>
        </p:spPr>
        <p:txBody>
          <a:bodyPr wrap="square">
            <a:spAutoFit/>
          </a:bodyPr>
          <a:lstStyle/>
          <a:p>
            <a:pPr algn="l">
              <a:defRPr sz="1200" b="1">
                <a:solidFill>
                  <a:srgbClr val="00E676"/>
                </a:solidFill>
                <a:latin typeface="Calibri"/>
              </a:defRPr>
            </a:pPr>
            <a:r>
              <a:t>You get:</a:t>
            </a:r>
          </a:p>
        </p:txBody>
      </p:sp>
      <p:sp>
        <p:nvSpPr>
          <p:cNvPr id="22" name="TextBox 21"/>
          <p:cNvSpPr txBox="1"/>
          <p:nvPr/>
        </p:nvSpPr>
        <p:spPr>
          <a:xfrm>
            <a:off x="7498080" y="3108960"/>
            <a:ext cx="1920240" cy="2286000"/>
          </a:xfrm>
          <a:prstGeom prst="rect">
            <a:avLst/>
          </a:prstGeom>
          <a:noFill/>
        </p:spPr>
        <p:txBody>
          <a:bodyPr wrap="square">
            <a:spAutoFit/>
          </a:bodyPr>
          <a:lstStyle/>
          <a:p>
            <a:pPr>
              <a:spcAft>
                <a:spcPts val="800"/>
              </a:spcAft>
            </a:pPr>
            <a:r>
              <a:rPr sz="1100">
                <a:solidFill>
                  <a:srgbClr val="00E676"/>
                </a:solidFill>
                <a:latin typeface="Calibri"/>
              </a:rPr>
              <a:t>▸ </a:t>
            </a:r>
            <a:r>
              <a:rPr sz="1100">
                <a:solidFill>
                  <a:srgbClr val="BBBBBB"/>
                </a:solidFill>
                <a:latin typeface="Calibri"/>
              </a:rPr>
              <a:t>Working automations</a:t>
            </a:r>
          </a:p>
          <a:p>
            <a:pPr>
              <a:spcAft>
                <a:spcPts val="800"/>
              </a:spcAft>
            </a:pPr>
            <a:r>
              <a:rPr sz="1100">
                <a:solidFill>
                  <a:srgbClr val="00E676"/>
                </a:solidFill>
                <a:latin typeface="Calibri"/>
              </a:rPr>
              <a:t>▸ </a:t>
            </a:r>
            <a:r>
              <a:rPr sz="1100">
                <a:solidFill>
                  <a:srgbClr val="BBBBBB"/>
                </a:solidFill>
                <a:latin typeface="Calibri"/>
              </a:rPr>
              <a:t>Tested on real scenarios</a:t>
            </a:r>
          </a:p>
          <a:p>
            <a:pPr>
              <a:spcAft>
                <a:spcPts val="800"/>
              </a:spcAft>
            </a:pPr>
            <a:r>
              <a:rPr sz="1100">
                <a:solidFill>
                  <a:srgbClr val="00E676"/>
                </a:solidFill>
                <a:latin typeface="Calibri"/>
              </a:rPr>
              <a:t>▸ </a:t>
            </a:r>
            <a:r>
              <a:rPr sz="1100">
                <a:solidFill>
                  <a:srgbClr val="BBBBBB"/>
                </a:solidFill>
                <a:latin typeface="Calibri"/>
              </a:rPr>
              <a:t>Error handling built in</a:t>
            </a:r>
          </a:p>
        </p:txBody>
      </p:sp>
      <p:sp>
        <p:nvSpPr>
          <p:cNvPr id="23" name="TextBox 22"/>
          <p:cNvSpPr txBox="1"/>
          <p:nvPr/>
        </p:nvSpPr>
        <p:spPr>
          <a:xfrm>
            <a:off x="9509760" y="1600200"/>
            <a:ext cx="274320" cy="365760"/>
          </a:xfrm>
          <a:prstGeom prst="rect">
            <a:avLst/>
          </a:prstGeom>
          <a:noFill/>
        </p:spPr>
        <p:txBody>
          <a:bodyPr wrap="square">
            <a:spAutoFit/>
          </a:bodyPr>
          <a:lstStyle/>
          <a:p>
            <a:pPr algn="ctr">
              <a:defRPr sz="1800" b="0">
                <a:solidFill>
                  <a:srgbClr val="BBBBBB"/>
                </a:solidFill>
                <a:latin typeface="Calibri"/>
              </a:defRPr>
            </a:pPr>
            <a:r>
              <a:t>➔</a:t>
            </a:r>
          </a:p>
        </p:txBody>
      </p:sp>
      <p:sp>
        <p:nvSpPr>
          <p:cNvPr id="24" name="Rounded Rectangle 23"/>
          <p:cNvSpPr/>
          <p:nvPr/>
        </p:nvSpPr>
        <p:spPr>
          <a:xfrm>
            <a:off x="9784080" y="1554480"/>
            <a:ext cx="2103120" cy="457200"/>
          </a:xfrm>
          <a:prstGeom prst="roundRect">
            <a:avLst/>
          </a:prstGeom>
          <a:solidFill>
            <a:srgbClr val="1A4D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500" b="1">
                <a:solidFill>
                  <a:srgbClr val="00E676"/>
                </a:solidFill>
                <a:latin typeface="Calibri"/>
              </a:defRPr>
            </a:pPr>
            <a:r>
              <a:t>5. Go Live</a:t>
            </a:r>
          </a:p>
        </p:txBody>
      </p:sp>
      <p:sp>
        <p:nvSpPr>
          <p:cNvPr id="25" name="TextBox 24"/>
          <p:cNvSpPr txBox="1"/>
          <p:nvPr/>
        </p:nvSpPr>
        <p:spPr>
          <a:xfrm>
            <a:off x="9875520" y="2103120"/>
            <a:ext cx="1920240" cy="640080"/>
          </a:xfrm>
          <a:prstGeom prst="rect">
            <a:avLst/>
          </a:prstGeom>
          <a:noFill/>
        </p:spPr>
        <p:txBody>
          <a:bodyPr wrap="square">
            <a:spAutoFit/>
          </a:bodyPr>
          <a:lstStyle/>
          <a:p>
            <a:pPr algn="l">
              <a:defRPr sz="1200" b="0">
                <a:solidFill>
                  <a:srgbClr val="BBBBBB"/>
                </a:solidFill>
                <a:latin typeface="Calibri"/>
              </a:defRPr>
            </a:pPr>
            <a:r>
              <a:t>Deploy, train your team,</a:t>
            </a:r>
            <a:br/>
            <a:r>
              <a:t>and monitor everything.</a:t>
            </a:r>
          </a:p>
        </p:txBody>
      </p:sp>
      <p:sp>
        <p:nvSpPr>
          <p:cNvPr id="26" name="TextBox 25"/>
          <p:cNvSpPr txBox="1"/>
          <p:nvPr/>
        </p:nvSpPr>
        <p:spPr>
          <a:xfrm>
            <a:off x="9875520" y="2834640"/>
            <a:ext cx="1920240" cy="274320"/>
          </a:xfrm>
          <a:prstGeom prst="rect">
            <a:avLst/>
          </a:prstGeom>
          <a:noFill/>
        </p:spPr>
        <p:txBody>
          <a:bodyPr wrap="square">
            <a:spAutoFit/>
          </a:bodyPr>
          <a:lstStyle/>
          <a:p>
            <a:pPr algn="l">
              <a:defRPr sz="1200" b="1">
                <a:solidFill>
                  <a:srgbClr val="00E676"/>
                </a:solidFill>
                <a:latin typeface="Calibri"/>
              </a:defRPr>
            </a:pPr>
            <a:r>
              <a:t>You get:</a:t>
            </a:r>
          </a:p>
        </p:txBody>
      </p:sp>
      <p:sp>
        <p:nvSpPr>
          <p:cNvPr id="27" name="TextBox 26"/>
          <p:cNvSpPr txBox="1"/>
          <p:nvPr/>
        </p:nvSpPr>
        <p:spPr>
          <a:xfrm>
            <a:off x="9875520" y="3108960"/>
            <a:ext cx="1920240" cy="2286000"/>
          </a:xfrm>
          <a:prstGeom prst="rect">
            <a:avLst/>
          </a:prstGeom>
          <a:noFill/>
        </p:spPr>
        <p:txBody>
          <a:bodyPr wrap="square">
            <a:spAutoFit/>
          </a:bodyPr>
          <a:lstStyle/>
          <a:p>
            <a:pPr>
              <a:spcAft>
                <a:spcPts val="800"/>
              </a:spcAft>
            </a:pPr>
            <a:r>
              <a:rPr sz="1100">
                <a:solidFill>
                  <a:srgbClr val="00E676"/>
                </a:solidFill>
                <a:latin typeface="Calibri"/>
              </a:rPr>
              <a:t>▸ </a:t>
            </a:r>
            <a:r>
              <a:rPr sz="1100">
                <a:solidFill>
                  <a:srgbClr val="BBBBBB"/>
                </a:solidFill>
                <a:latin typeface="Calibri"/>
              </a:rPr>
              <a:t>Live system, fully deployed</a:t>
            </a:r>
          </a:p>
          <a:p>
            <a:pPr>
              <a:spcAft>
                <a:spcPts val="800"/>
              </a:spcAft>
            </a:pPr>
            <a:r>
              <a:rPr sz="1100">
                <a:solidFill>
                  <a:srgbClr val="00E676"/>
                </a:solidFill>
                <a:latin typeface="Calibri"/>
              </a:rPr>
              <a:t>▸ </a:t>
            </a:r>
            <a:r>
              <a:rPr sz="1100">
                <a:solidFill>
                  <a:srgbClr val="BBBBBB"/>
                </a:solidFill>
                <a:latin typeface="Calibri"/>
              </a:rPr>
              <a:t>Team walkthrough + training</a:t>
            </a:r>
          </a:p>
          <a:p>
            <a:pPr>
              <a:spcAft>
                <a:spcPts val="800"/>
              </a:spcAft>
            </a:pPr>
            <a:r>
              <a:rPr sz="1100">
                <a:solidFill>
                  <a:srgbClr val="00E676"/>
                </a:solidFill>
                <a:latin typeface="Calibri"/>
              </a:rPr>
              <a:t>▸ </a:t>
            </a:r>
            <a:r>
              <a:rPr sz="1100">
                <a:solidFill>
                  <a:srgbClr val="BBBBBB"/>
                </a:solidFill>
                <a:latin typeface="Calibri"/>
              </a:rPr>
              <a:t>Ongoing monitoring + support</a:t>
            </a:r>
          </a:p>
        </p:txBody>
      </p:sp>
      <p:sp>
        <p:nvSpPr>
          <p:cNvPr id="28" name="Rounded Rectangle 27"/>
          <p:cNvSpPr/>
          <p:nvPr/>
        </p:nvSpPr>
        <p:spPr>
          <a:xfrm>
            <a:off x="1828800" y="5669280"/>
            <a:ext cx="8534095" cy="64008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700" b="1">
                <a:solidFill>
                  <a:srgbClr val="FFFFFF"/>
                </a:solidFill>
                <a:latin typeface="Calibri"/>
              </a:defRPr>
            </a:pPr>
            <a:r>
              <a:t>Transparent. Measurable. No surprises.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TextBox 1"/>
          <p:cNvSpPr txBox="1"/>
          <p:nvPr/>
        </p:nvSpPr>
        <p:spPr>
          <a:xfrm>
            <a:off x="731520" y="365760"/>
            <a:ext cx="10728655" cy="640080"/>
          </a:xfrm>
          <a:prstGeom prst="rect">
            <a:avLst/>
          </a:prstGeom>
          <a:noFill/>
        </p:spPr>
        <p:txBody>
          <a:bodyPr wrap="square">
            <a:spAutoFit/>
          </a:bodyPr>
          <a:lstStyle/>
          <a:p>
            <a:pPr algn="l">
              <a:defRPr sz="3600" b="1">
                <a:solidFill>
                  <a:srgbClr val="FFFFFF"/>
                </a:solidFill>
                <a:latin typeface="Calibri"/>
              </a:defRPr>
            </a:pPr>
            <a:r>
              <a:t>Real Results</a:t>
            </a:r>
          </a:p>
        </p:txBody>
      </p:sp>
      <p:sp>
        <p:nvSpPr>
          <p:cNvPr id="3" name="TextBox 2"/>
          <p:cNvSpPr txBox="1"/>
          <p:nvPr/>
        </p:nvSpPr>
        <p:spPr>
          <a:xfrm>
            <a:off x="731520" y="868680"/>
            <a:ext cx="10728655" cy="457200"/>
          </a:xfrm>
          <a:prstGeom prst="rect">
            <a:avLst/>
          </a:prstGeom>
          <a:noFill/>
        </p:spPr>
        <p:txBody>
          <a:bodyPr wrap="square">
            <a:spAutoFit/>
          </a:bodyPr>
          <a:lstStyle/>
          <a:p>
            <a:pPr algn="l">
              <a:defRPr sz="1800" b="0">
                <a:solidFill>
                  <a:srgbClr val="BBBBBB"/>
                </a:solidFill>
                <a:latin typeface="Calibri"/>
              </a:defRPr>
            </a:pPr>
            <a:r>
              <a:t>What automation looks like in practice — from businesses like yours</a:t>
            </a:r>
          </a:p>
        </p:txBody>
      </p:sp>
      <p:sp>
        <p:nvSpPr>
          <p:cNvPr id="4" name="Rounded Rectangle 3"/>
          <p:cNvSpPr/>
          <p:nvPr/>
        </p:nvSpPr>
        <p:spPr>
          <a:xfrm>
            <a:off x="457200" y="1645920"/>
            <a:ext cx="3566160" cy="457200"/>
          </a:xfrm>
          <a:prstGeom prst="roundRect">
            <a:avLst/>
          </a:prstGeom>
          <a:solidFill>
            <a:srgbClr val="00508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400" b="1">
                <a:solidFill>
                  <a:srgbClr val="00D4FF"/>
                </a:solidFill>
                <a:latin typeface="Calibri"/>
              </a:defRPr>
            </a:pPr>
            <a:r>
              <a:t>PRODUCT COMPANY</a:t>
            </a:r>
          </a:p>
        </p:txBody>
      </p:sp>
      <p:sp>
        <p:nvSpPr>
          <p:cNvPr id="5" name="TextBox 4"/>
          <p:cNvSpPr txBox="1"/>
          <p:nvPr/>
        </p:nvSpPr>
        <p:spPr>
          <a:xfrm>
            <a:off x="457200" y="2194560"/>
            <a:ext cx="3566160" cy="640080"/>
          </a:xfrm>
          <a:prstGeom prst="rect">
            <a:avLst/>
          </a:prstGeom>
          <a:noFill/>
        </p:spPr>
        <p:txBody>
          <a:bodyPr wrap="square">
            <a:spAutoFit/>
          </a:bodyPr>
          <a:lstStyle/>
          <a:p>
            <a:pPr algn="ctr">
              <a:defRPr sz="4800" b="1">
                <a:solidFill>
                  <a:srgbClr val="00D4FF"/>
                </a:solidFill>
                <a:latin typeface="Calibri"/>
              </a:defRPr>
            </a:pPr>
            <a:r>
              <a:t>85%</a:t>
            </a:r>
          </a:p>
        </p:txBody>
      </p:sp>
      <p:sp>
        <p:nvSpPr>
          <p:cNvPr id="6" name="TextBox 5"/>
          <p:cNvSpPr txBox="1"/>
          <p:nvPr/>
        </p:nvSpPr>
        <p:spPr>
          <a:xfrm>
            <a:off x="457200" y="2743200"/>
            <a:ext cx="3566160" cy="365760"/>
          </a:xfrm>
          <a:prstGeom prst="rect">
            <a:avLst/>
          </a:prstGeom>
          <a:noFill/>
        </p:spPr>
        <p:txBody>
          <a:bodyPr wrap="square">
            <a:spAutoFit/>
          </a:bodyPr>
          <a:lstStyle/>
          <a:p>
            <a:pPr algn="ctr">
              <a:defRPr sz="1600" b="0">
                <a:solidFill>
                  <a:srgbClr val="FFFFFF"/>
                </a:solidFill>
                <a:latin typeface="Calibri"/>
              </a:defRPr>
            </a:pPr>
            <a:r>
              <a:t>reduction in shipping ops time</a:t>
            </a:r>
          </a:p>
        </p:txBody>
      </p:sp>
      <p:sp>
        <p:nvSpPr>
          <p:cNvPr id="7" name="TextBox 6"/>
          <p:cNvSpPr txBox="1"/>
          <p:nvPr/>
        </p:nvSpPr>
        <p:spPr>
          <a:xfrm>
            <a:off x="640080" y="3200400"/>
            <a:ext cx="3200400" cy="2286000"/>
          </a:xfrm>
          <a:prstGeom prst="rect">
            <a:avLst/>
          </a:prstGeom>
          <a:noFill/>
        </p:spPr>
        <p:txBody>
          <a:bodyPr wrap="square">
            <a:spAutoFit/>
          </a:bodyPr>
          <a:lstStyle/>
          <a:p>
            <a:pPr>
              <a:spcAft>
                <a:spcPts val="800"/>
              </a:spcAft>
            </a:pPr>
            <a:r>
              <a:rPr sz="1400">
                <a:solidFill>
                  <a:srgbClr val="00D4FF"/>
                </a:solidFill>
                <a:latin typeface="Calibri"/>
              </a:rPr>
              <a:t>▸ </a:t>
            </a:r>
            <a:r>
              <a:rPr sz="1400">
                <a:solidFill>
                  <a:srgbClr val="BBBBBB"/>
                </a:solidFill>
                <a:latin typeface="Calibri"/>
              </a:rPr>
              <a:t>5 hrs/day manual → 10 min daily review</a:t>
            </a:r>
          </a:p>
          <a:p>
            <a:pPr>
              <a:spcAft>
                <a:spcPts val="800"/>
              </a:spcAft>
            </a:pPr>
            <a:r>
              <a:rPr sz="1400">
                <a:solidFill>
                  <a:srgbClr val="00D4FF"/>
                </a:solidFill>
                <a:latin typeface="Calibri"/>
              </a:rPr>
              <a:t>▸ </a:t>
            </a:r>
            <a:r>
              <a:rPr sz="1400">
                <a:solidFill>
                  <a:srgbClr val="BBBBBB"/>
                </a:solidFill>
                <a:latin typeface="Calibri"/>
              </a:rPr>
              <a:t>Auto label generation + carrier selection</a:t>
            </a:r>
          </a:p>
          <a:p>
            <a:pPr>
              <a:spcAft>
                <a:spcPts val="800"/>
              </a:spcAft>
            </a:pPr>
            <a:r>
              <a:rPr sz="1400">
                <a:solidFill>
                  <a:srgbClr val="00D4FF"/>
                </a:solidFill>
                <a:latin typeface="Calibri"/>
              </a:rPr>
              <a:t>▸ </a:t>
            </a:r>
            <a:r>
              <a:rPr sz="1400">
                <a:solidFill>
                  <a:srgbClr val="BBBBBB"/>
                </a:solidFill>
                <a:latin typeface="Calibri"/>
              </a:rPr>
              <a:t>Address validation before printing</a:t>
            </a:r>
          </a:p>
          <a:p>
            <a:pPr>
              <a:spcAft>
                <a:spcPts val="800"/>
              </a:spcAft>
            </a:pPr>
            <a:r>
              <a:rPr sz="1400">
                <a:solidFill>
                  <a:srgbClr val="00D4FF"/>
                </a:solidFill>
                <a:latin typeface="Calibri"/>
              </a:rPr>
              <a:t>▸ </a:t>
            </a:r>
            <a:r>
              <a:rPr sz="1400">
                <a:solidFill>
                  <a:srgbClr val="BBBBBB"/>
                </a:solidFill>
                <a:latin typeface="Calibri"/>
              </a:rPr>
              <a:t>~$27,600/year in labor savings</a:t>
            </a:r>
          </a:p>
        </p:txBody>
      </p:sp>
      <p:sp>
        <p:nvSpPr>
          <p:cNvPr id="8" name="Rounded Rectangle 7"/>
          <p:cNvSpPr/>
          <p:nvPr/>
        </p:nvSpPr>
        <p:spPr>
          <a:xfrm>
            <a:off x="4297680" y="1645920"/>
            <a:ext cx="3566160" cy="457200"/>
          </a:xfrm>
          <a:prstGeom prst="roundRect">
            <a:avLst/>
          </a:prstGeom>
          <a:solidFill>
            <a:srgbClr val="1A4D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400" b="1">
                <a:solidFill>
                  <a:srgbClr val="00E676"/>
                </a:solidFill>
                <a:latin typeface="Calibri"/>
              </a:defRPr>
            </a:pPr>
            <a:r>
              <a:t>RETAIL BUSINESS</a:t>
            </a:r>
          </a:p>
        </p:txBody>
      </p:sp>
      <p:sp>
        <p:nvSpPr>
          <p:cNvPr id="9" name="TextBox 8"/>
          <p:cNvSpPr txBox="1"/>
          <p:nvPr/>
        </p:nvSpPr>
        <p:spPr>
          <a:xfrm>
            <a:off x="4297680" y="2194560"/>
            <a:ext cx="3566160" cy="640080"/>
          </a:xfrm>
          <a:prstGeom prst="rect">
            <a:avLst/>
          </a:prstGeom>
          <a:noFill/>
        </p:spPr>
        <p:txBody>
          <a:bodyPr wrap="square">
            <a:spAutoFit/>
          </a:bodyPr>
          <a:lstStyle/>
          <a:p>
            <a:pPr algn="ctr">
              <a:defRPr sz="4800" b="1">
                <a:solidFill>
                  <a:srgbClr val="00E676"/>
                </a:solidFill>
                <a:latin typeface="Calibri"/>
              </a:defRPr>
            </a:pPr>
            <a:r>
              <a:t>ZERO</a:t>
            </a:r>
          </a:p>
        </p:txBody>
      </p:sp>
      <p:sp>
        <p:nvSpPr>
          <p:cNvPr id="10" name="TextBox 9"/>
          <p:cNvSpPr txBox="1"/>
          <p:nvPr/>
        </p:nvSpPr>
        <p:spPr>
          <a:xfrm>
            <a:off x="4297680" y="2743200"/>
            <a:ext cx="3566160" cy="365760"/>
          </a:xfrm>
          <a:prstGeom prst="rect">
            <a:avLst/>
          </a:prstGeom>
          <a:noFill/>
        </p:spPr>
        <p:txBody>
          <a:bodyPr wrap="square">
            <a:spAutoFit/>
          </a:bodyPr>
          <a:lstStyle/>
          <a:p>
            <a:pPr algn="ctr">
              <a:defRPr sz="1600" b="0">
                <a:solidFill>
                  <a:srgbClr val="FFFFFF"/>
                </a:solidFill>
                <a:latin typeface="Calibri"/>
              </a:defRPr>
            </a:pPr>
            <a:r>
              <a:t>data errors in 4+ months</a:t>
            </a:r>
          </a:p>
        </p:txBody>
      </p:sp>
      <p:sp>
        <p:nvSpPr>
          <p:cNvPr id="11" name="TextBox 10"/>
          <p:cNvSpPr txBox="1"/>
          <p:nvPr/>
        </p:nvSpPr>
        <p:spPr>
          <a:xfrm>
            <a:off x="4480560" y="3200400"/>
            <a:ext cx="3200400" cy="2286000"/>
          </a:xfrm>
          <a:prstGeom prst="rect">
            <a:avLst/>
          </a:prstGeom>
          <a:noFill/>
        </p:spPr>
        <p:txBody>
          <a:bodyPr wrap="square">
            <a:spAutoFit/>
          </a:bodyPr>
          <a:lstStyle/>
          <a:p>
            <a:pPr>
              <a:spcAft>
                <a:spcPts val="800"/>
              </a:spcAft>
            </a:pPr>
            <a:r>
              <a:rPr sz="1400">
                <a:solidFill>
                  <a:srgbClr val="00E676"/>
                </a:solidFill>
                <a:latin typeface="Calibri"/>
              </a:rPr>
              <a:t>▸ </a:t>
            </a:r>
            <a:r>
              <a:rPr sz="1400">
                <a:solidFill>
                  <a:srgbClr val="BBBBBB"/>
                </a:solidFill>
                <a:latin typeface="Calibri"/>
              </a:rPr>
              <a:t>3-system sync (store, inventory, invoicing)</a:t>
            </a:r>
          </a:p>
          <a:p>
            <a:pPr>
              <a:spcAft>
                <a:spcPts val="800"/>
              </a:spcAft>
            </a:pPr>
            <a:r>
              <a:rPr sz="1400">
                <a:solidFill>
                  <a:srgbClr val="00E676"/>
                </a:solidFill>
                <a:latin typeface="Calibri"/>
              </a:rPr>
              <a:t>▸ </a:t>
            </a:r>
            <a:r>
              <a:rPr sz="1400">
                <a:solidFill>
                  <a:srgbClr val="BBBBBB"/>
                </a:solidFill>
                <a:latin typeface="Calibri"/>
              </a:rPr>
              <a:t>Auto-validates quantities &amp; totals</a:t>
            </a:r>
          </a:p>
          <a:p>
            <a:pPr>
              <a:spcAft>
                <a:spcPts val="800"/>
              </a:spcAft>
            </a:pPr>
            <a:r>
              <a:rPr sz="1400">
                <a:solidFill>
                  <a:srgbClr val="00E676"/>
                </a:solidFill>
                <a:latin typeface="Calibri"/>
              </a:rPr>
              <a:t>▸ </a:t>
            </a:r>
            <a:r>
              <a:rPr sz="1400">
                <a:solidFill>
                  <a:srgbClr val="BBBBBB"/>
                </a:solidFill>
                <a:latin typeface="Calibri"/>
              </a:rPr>
              <a:t>Self-corrects when source data changes</a:t>
            </a:r>
          </a:p>
          <a:p>
            <a:pPr>
              <a:spcAft>
                <a:spcPts val="800"/>
              </a:spcAft>
            </a:pPr>
            <a:r>
              <a:rPr sz="1400">
                <a:solidFill>
                  <a:srgbClr val="00E676"/>
                </a:solidFill>
                <a:latin typeface="Calibri"/>
              </a:rPr>
              <a:t>▸ </a:t>
            </a:r>
            <a:r>
              <a:rPr sz="1400">
                <a:solidFill>
                  <a:srgbClr val="BBBBBB"/>
                </a:solidFill>
                <a:latin typeface="Calibri"/>
              </a:rPr>
              <a:t>~$15–19K/year in value</a:t>
            </a:r>
          </a:p>
        </p:txBody>
      </p:sp>
      <p:sp>
        <p:nvSpPr>
          <p:cNvPr id="12" name="Rounded Rectangle 11"/>
          <p:cNvSpPr/>
          <p:nvPr/>
        </p:nvSpPr>
        <p:spPr>
          <a:xfrm>
            <a:off x="8138160" y="1645920"/>
            <a:ext cx="3566160" cy="457200"/>
          </a:xfrm>
          <a:prstGeom prst="roundRect">
            <a:avLst/>
          </a:prstGeom>
          <a:solidFill>
            <a:srgbClr val="5C3D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400" b="1">
                <a:solidFill>
                  <a:srgbClr val="FFD700"/>
                </a:solidFill>
                <a:latin typeface="Calibri"/>
              </a:defRPr>
            </a:pPr>
            <a:r>
              <a:t>E-COMMERCE BRAND</a:t>
            </a:r>
          </a:p>
        </p:txBody>
      </p:sp>
      <p:sp>
        <p:nvSpPr>
          <p:cNvPr id="13" name="TextBox 12"/>
          <p:cNvSpPr txBox="1"/>
          <p:nvPr/>
        </p:nvSpPr>
        <p:spPr>
          <a:xfrm>
            <a:off x="8138160" y="2194560"/>
            <a:ext cx="3566160" cy="640080"/>
          </a:xfrm>
          <a:prstGeom prst="rect">
            <a:avLst/>
          </a:prstGeom>
          <a:noFill/>
        </p:spPr>
        <p:txBody>
          <a:bodyPr wrap="square">
            <a:spAutoFit/>
          </a:bodyPr>
          <a:lstStyle/>
          <a:p>
            <a:pPr algn="ctr">
              <a:defRPr sz="4800" b="1">
                <a:solidFill>
                  <a:srgbClr val="FFD700"/>
                </a:solidFill>
                <a:latin typeface="Calibri"/>
              </a:defRPr>
            </a:pPr>
            <a:r>
              <a:t>87%</a:t>
            </a:r>
          </a:p>
        </p:txBody>
      </p:sp>
      <p:sp>
        <p:nvSpPr>
          <p:cNvPr id="14" name="TextBox 13"/>
          <p:cNvSpPr txBox="1"/>
          <p:nvPr/>
        </p:nvSpPr>
        <p:spPr>
          <a:xfrm>
            <a:off x="8138160" y="2743200"/>
            <a:ext cx="3566160" cy="365760"/>
          </a:xfrm>
          <a:prstGeom prst="rect">
            <a:avLst/>
          </a:prstGeom>
          <a:noFill/>
        </p:spPr>
        <p:txBody>
          <a:bodyPr wrap="square">
            <a:spAutoFit/>
          </a:bodyPr>
          <a:lstStyle/>
          <a:p>
            <a:pPr algn="ctr">
              <a:defRPr sz="1600" b="0">
                <a:solidFill>
                  <a:srgbClr val="FFFFFF"/>
                </a:solidFill>
                <a:latin typeface="Calibri"/>
              </a:defRPr>
            </a:pPr>
            <a:r>
              <a:t>faster content production</a:t>
            </a:r>
          </a:p>
        </p:txBody>
      </p:sp>
      <p:sp>
        <p:nvSpPr>
          <p:cNvPr id="15" name="TextBox 14"/>
          <p:cNvSpPr txBox="1"/>
          <p:nvPr/>
        </p:nvSpPr>
        <p:spPr>
          <a:xfrm>
            <a:off x="8321040" y="3200400"/>
            <a:ext cx="3200400" cy="2286000"/>
          </a:xfrm>
          <a:prstGeom prst="rect">
            <a:avLst/>
          </a:prstGeom>
          <a:noFill/>
        </p:spPr>
        <p:txBody>
          <a:bodyPr wrap="square">
            <a:spAutoFit/>
          </a:bodyPr>
          <a:lstStyle/>
          <a:p>
            <a:pPr>
              <a:spcAft>
                <a:spcPts val="800"/>
              </a:spcAft>
            </a:pPr>
            <a:r>
              <a:rPr sz="1400">
                <a:solidFill>
                  <a:srgbClr val="FFD700"/>
                </a:solidFill>
                <a:latin typeface="Calibri"/>
              </a:rPr>
              <a:t>▸ </a:t>
            </a:r>
            <a:r>
              <a:rPr sz="1400">
                <a:solidFill>
                  <a:srgbClr val="BBBBBB"/>
                </a:solidFill>
                <a:latin typeface="Calibri"/>
              </a:rPr>
              <a:t>4–6 hrs/post → 30 min review</a:t>
            </a:r>
          </a:p>
          <a:p>
            <a:pPr>
              <a:spcAft>
                <a:spcPts val="800"/>
              </a:spcAft>
            </a:pPr>
            <a:r>
              <a:rPr sz="1400">
                <a:solidFill>
                  <a:srgbClr val="FFD700"/>
                </a:solidFill>
                <a:latin typeface="Calibri"/>
              </a:rPr>
              <a:t>▸ </a:t>
            </a:r>
            <a:r>
              <a:rPr sz="1400">
                <a:solidFill>
                  <a:srgbClr val="BBBBBB"/>
                </a:solidFill>
                <a:latin typeface="Calibri"/>
              </a:rPr>
              <a:t>8-step AI pipeline: plan to publish</a:t>
            </a:r>
          </a:p>
          <a:p>
            <a:pPr>
              <a:spcAft>
                <a:spcPts val="800"/>
              </a:spcAft>
            </a:pPr>
            <a:r>
              <a:rPr sz="1400">
                <a:solidFill>
                  <a:srgbClr val="FFD700"/>
                </a:solidFill>
                <a:latin typeface="Calibri"/>
              </a:rPr>
              <a:t>▸ </a:t>
            </a:r>
            <a:r>
              <a:rPr sz="1400">
                <a:solidFill>
                  <a:srgbClr val="BBBBBB"/>
                </a:solidFill>
                <a:latin typeface="Calibri"/>
              </a:rPr>
              <a:t>SEO-optimized with auto internal linking</a:t>
            </a:r>
          </a:p>
          <a:p>
            <a:pPr>
              <a:spcAft>
                <a:spcPts val="800"/>
              </a:spcAft>
            </a:pPr>
            <a:r>
              <a:rPr sz="1400">
                <a:solidFill>
                  <a:srgbClr val="FFD700"/>
                </a:solidFill>
                <a:latin typeface="Calibri"/>
              </a:rPr>
              <a:t>▸ </a:t>
            </a:r>
            <a:r>
              <a:rPr sz="1400">
                <a:solidFill>
                  <a:srgbClr val="BBBBBB"/>
                </a:solidFill>
                <a:latin typeface="Calibri"/>
              </a:rPr>
              <a:t>52 posts/year, never misses schedule</a:t>
            </a:r>
          </a:p>
        </p:txBody>
      </p:sp>
      <p:sp>
        <p:nvSpPr>
          <p:cNvPr id="16" name="Rounded Rectangle 15"/>
          <p:cNvSpPr/>
          <p:nvPr/>
        </p:nvSpPr>
        <p:spPr>
          <a:xfrm>
            <a:off x="1828800" y="5669280"/>
            <a:ext cx="8534095" cy="64008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700" b="1">
                <a:solidFill>
                  <a:srgbClr val="FFFFFF"/>
                </a:solidFill>
                <a:latin typeface="Calibri"/>
              </a:defRPr>
            </a:pPr>
            <a:r>
              <a:t>These are single processes for single clients. Most businesses have 3–5 like this.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TextBox 1"/>
          <p:cNvSpPr txBox="1"/>
          <p:nvPr/>
        </p:nvSpPr>
        <p:spPr>
          <a:xfrm>
            <a:off x="731520" y="365760"/>
            <a:ext cx="10728655" cy="640080"/>
          </a:xfrm>
          <a:prstGeom prst="rect">
            <a:avLst/>
          </a:prstGeom>
          <a:noFill/>
        </p:spPr>
        <p:txBody>
          <a:bodyPr wrap="square">
            <a:spAutoFit/>
          </a:bodyPr>
          <a:lstStyle/>
          <a:p>
            <a:pPr algn="l">
              <a:defRPr sz="3600" b="1">
                <a:solidFill>
                  <a:srgbClr val="FFFFFF"/>
                </a:solidFill>
                <a:latin typeface="Calibri"/>
              </a:defRPr>
            </a:pPr>
            <a:r>
              <a:t>Total Risk Reversal</a:t>
            </a:r>
          </a:p>
        </p:txBody>
      </p:sp>
      <p:sp>
        <p:nvSpPr>
          <p:cNvPr id="3" name="TextBox 2"/>
          <p:cNvSpPr txBox="1"/>
          <p:nvPr/>
        </p:nvSpPr>
        <p:spPr>
          <a:xfrm>
            <a:off x="731520" y="868680"/>
            <a:ext cx="10728655" cy="457200"/>
          </a:xfrm>
          <a:prstGeom prst="rect">
            <a:avLst/>
          </a:prstGeom>
          <a:noFill/>
        </p:spPr>
        <p:txBody>
          <a:bodyPr wrap="square">
            <a:spAutoFit/>
          </a:bodyPr>
          <a:lstStyle/>
          <a:p>
            <a:pPr algn="l">
              <a:defRPr sz="1800" b="0">
                <a:solidFill>
                  <a:srgbClr val="BBBBBB"/>
                </a:solidFill>
                <a:latin typeface="Calibri"/>
              </a:defRPr>
            </a:pPr>
            <a:r>
              <a:t>We don't get paid unless we deliver exactly what we promised</a:t>
            </a:r>
          </a:p>
        </p:txBody>
      </p:sp>
      <p:sp>
        <p:nvSpPr>
          <p:cNvPr id="4" name="Oval 3"/>
          <p:cNvSpPr/>
          <p:nvPr/>
        </p:nvSpPr>
        <p:spPr>
          <a:xfrm>
            <a:off x="1920240" y="1828800"/>
            <a:ext cx="640080" cy="64008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0F0F23"/>
                </a:solidFill>
              </a:defRPr>
            </a:pPr>
            <a:r>
              <a:t>1</a:t>
            </a:r>
          </a:p>
        </p:txBody>
      </p:sp>
      <p:sp>
        <p:nvSpPr>
          <p:cNvPr id="5" name="TextBox 4"/>
          <p:cNvSpPr txBox="1"/>
          <p:nvPr/>
        </p:nvSpPr>
        <p:spPr>
          <a:xfrm>
            <a:off x="731520" y="2651760"/>
            <a:ext cx="3291840" cy="457200"/>
          </a:xfrm>
          <a:prstGeom prst="rect">
            <a:avLst/>
          </a:prstGeom>
          <a:noFill/>
        </p:spPr>
        <p:txBody>
          <a:bodyPr wrap="square">
            <a:spAutoFit/>
          </a:bodyPr>
          <a:lstStyle/>
          <a:p>
            <a:pPr algn="ctr">
              <a:defRPr sz="2200" b="1">
                <a:solidFill>
                  <a:srgbClr val="00D4FF"/>
                </a:solidFill>
                <a:latin typeface="Calibri"/>
              </a:defRPr>
            </a:pPr>
            <a:r>
              <a:t>Defined Deliverables</a:t>
            </a:r>
          </a:p>
        </p:txBody>
      </p:sp>
      <p:sp>
        <p:nvSpPr>
          <p:cNvPr id="6" name="TextBox 5"/>
          <p:cNvSpPr txBox="1"/>
          <p:nvPr/>
        </p:nvSpPr>
        <p:spPr>
          <a:xfrm>
            <a:off x="731520" y="3200400"/>
            <a:ext cx="3291840" cy="1828800"/>
          </a:xfrm>
          <a:prstGeom prst="rect">
            <a:avLst/>
          </a:prstGeom>
          <a:noFill/>
        </p:spPr>
        <p:txBody>
          <a:bodyPr wrap="square">
            <a:spAutoFit/>
          </a:bodyPr>
          <a:lstStyle/>
          <a:p>
            <a:pPr algn="ctr">
              <a:defRPr sz="1600" b="0">
                <a:solidFill>
                  <a:srgbClr val="BBBBBB"/>
                </a:solidFill>
                <a:latin typeface="Calibri"/>
              </a:defRPr>
            </a:pPr>
            <a:r>
              <a:t>We agree on specific</a:t>
            </a:r>
            <a:br/>
            <a:r>
              <a:t>technical features upfront.</a:t>
            </a:r>
            <a:br/>
            <a:r>
              <a:t>No vague promises —</a:t>
            </a:r>
            <a:br/>
            <a:r>
              <a:t>just hard specs.</a:t>
            </a:r>
          </a:p>
        </p:txBody>
      </p:sp>
      <p:sp>
        <p:nvSpPr>
          <p:cNvPr id="7" name="Oval 6"/>
          <p:cNvSpPr/>
          <p:nvPr/>
        </p:nvSpPr>
        <p:spPr>
          <a:xfrm>
            <a:off x="5760720" y="1828800"/>
            <a:ext cx="640080" cy="640080"/>
          </a:xfrm>
          <a:prstGeom prst="ellipse">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0F0F23"/>
                </a:solidFill>
              </a:defRPr>
            </a:pPr>
            <a:r>
              <a:t>2</a:t>
            </a:r>
          </a:p>
        </p:txBody>
      </p:sp>
      <p:sp>
        <p:nvSpPr>
          <p:cNvPr id="8" name="TextBox 7"/>
          <p:cNvSpPr txBox="1"/>
          <p:nvPr/>
        </p:nvSpPr>
        <p:spPr>
          <a:xfrm>
            <a:off x="4572000" y="2651760"/>
            <a:ext cx="3291840" cy="457200"/>
          </a:xfrm>
          <a:prstGeom prst="rect">
            <a:avLst/>
          </a:prstGeom>
          <a:noFill/>
        </p:spPr>
        <p:txBody>
          <a:bodyPr wrap="square">
            <a:spAutoFit/>
          </a:bodyPr>
          <a:lstStyle/>
          <a:p>
            <a:pPr algn="ctr">
              <a:defRPr sz="2200" b="1">
                <a:solidFill>
                  <a:srgbClr val="00E676"/>
                </a:solidFill>
                <a:latin typeface="Calibri"/>
              </a:defRPr>
            </a:pPr>
            <a:r>
              <a:t>Feature Guarantee</a:t>
            </a:r>
          </a:p>
        </p:txBody>
      </p:sp>
      <p:sp>
        <p:nvSpPr>
          <p:cNvPr id="9" name="TextBox 8"/>
          <p:cNvSpPr txBox="1"/>
          <p:nvPr/>
        </p:nvSpPr>
        <p:spPr>
          <a:xfrm>
            <a:off x="4572000" y="3200400"/>
            <a:ext cx="3291840" cy="1828800"/>
          </a:xfrm>
          <a:prstGeom prst="rect">
            <a:avLst/>
          </a:prstGeom>
          <a:noFill/>
        </p:spPr>
        <p:txBody>
          <a:bodyPr wrap="square">
            <a:spAutoFit/>
          </a:bodyPr>
          <a:lstStyle/>
          <a:p>
            <a:pPr algn="ctr">
              <a:defRPr sz="1600" b="0">
                <a:solidFill>
                  <a:srgbClr val="BBBBBB"/>
                </a:solidFill>
                <a:latin typeface="Calibri"/>
              </a:defRPr>
            </a:pPr>
            <a:r>
              <a:t>If the automation doesn't</a:t>
            </a:r>
            <a:br/>
            <a:r>
              <a:t>execute those exact features,</a:t>
            </a:r>
            <a:br/>
            <a:r>
              <a:t>you don't pay. Period.</a:t>
            </a:r>
            <a:br/>
            <a:r>
              <a:t>Money-back guarantee.</a:t>
            </a:r>
          </a:p>
        </p:txBody>
      </p:sp>
      <p:sp>
        <p:nvSpPr>
          <p:cNvPr id="10" name="Oval 9"/>
          <p:cNvSpPr/>
          <p:nvPr/>
        </p:nvSpPr>
        <p:spPr>
          <a:xfrm>
            <a:off x="9601200" y="1828800"/>
            <a:ext cx="640080" cy="64008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0F0F23"/>
                </a:solidFill>
              </a:defRPr>
            </a:pPr>
            <a:r>
              <a:t>3</a:t>
            </a:r>
          </a:p>
        </p:txBody>
      </p:sp>
      <p:sp>
        <p:nvSpPr>
          <p:cNvPr id="11" name="TextBox 10"/>
          <p:cNvSpPr txBox="1"/>
          <p:nvPr/>
        </p:nvSpPr>
        <p:spPr>
          <a:xfrm>
            <a:off x="8412480" y="2651760"/>
            <a:ext cx="3291840" cy="457200"/>
          </a:xfrm>
          <a:prstGeom prst="rect">
            <a:avLst/>
          </a:prstGeom>
          <a:noFill/>
        </p:spPr>
        <p:txBody>
          <a:bodyPr wrap="square">
            <a:spAutoFit/>
          </a:bodyPr>
          <a:lstStyle/>
          <a:p>
            <a:pPr algn="ctr">
              <a:defRPr sz="2200" b="1">
                <a:solidFill>
                  <a:srgbClr val="FFD700"/>
                </a:solidFill>
                <a:latin typeface="Calibri"/>
              </a:defRPr>
            </a:pPr>
            <a:r>
              <a:t>Proof of Concept</a:t>
            </a:r>
          </a:p>
        </p:txBody>
      </p:sp>
      <p:sp>
        <p:nvSpPr>
          <p:cNvPr id="12" name="TextBox 11"/>
          <p:cNvSpPr txBox="1"/>
          <p:nvPr/>
        </p:nvSpPr>
        <p:spPr>
          <a:xfrm>
            <a:off x="8412480" y="3200400"/>
            <a:ext cx="3291840" cy="1828800"/>
          </a:xfrm>
          <a:prstGeom prst="rect">
            <a:avLst/>
          </a:prstGeom>
          <a:noFill/>
        </p:spPr>
        <p:txBody>
          <a:bodyPr wrap="square">
            <a:spAutoFit/>
          </a:bodyPr>
          <a:lstStyle/>
          <a:p>
            <a:pPr algn="ctr">
              <a:defRPr sz="1600" b="0">
                <a:solidFill>
                  <a:srgbClr val="BBBBBB"/>
                </a:solidFill>
                <a:latin typeface="Calibri"/>
              </a:defRPr>
            </a:pPr>
            <a:r>
              <a:t>Before you commit, we show</a:t>
            </a:r>
            <a:br/>
            <a:r>
              <a:t>you a working demo tailored</a:t>
            </a:r>
            <a:br/>
            <a:r>
              <a:t>to YOUR industry. See it</a:t>
            </a:r>
            <a:br/>
            <a:r>
              <a:t>work in real-time.</a:t>
            </a:r>
          </a:p>
        </p:txBody>
      </p:sp>
      <p:sp>
        <p:nvSpPr>
          <p:cNvPr id="13" name="Rounded Rectangle 12"/>
          <p:cNvSpPr/>
          <p:nvPr/>
        </p:nvSpPr>
        <p:spPr>
          <a:xfrm>
            <a:off x="1828800" y="5486400"/>
            <a:ext cx="8534095" cy="73152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800" b="1">
                <a:solidFill>
                  <a:srgbClr val="FFFFFF"/>
                </a:solidFill>
                <a:latin typeface="Calibri"/>
              </a:defRPr>
            </a:pPr>
            <a:r>
              <a:t>Zero risk. Clear deliverables. You only pay for results that work.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ectangle 1"/>
          <p:cNvSpPr/>
          <p:nvPr/>
        </p:nvSpPr>
        <p:spPr>
          <a:xfrm>
            <a:off x="4114800" y="2011680"/>
            <a:ext cx="3962095" cy="3810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62895" cy="1097280"/>
          </a:xfrm>
          <a:prstGeom prst="rect">
            <a:avLst/>
          </a:prstGeom>
          <a:noFill/>
        </p:spPr>
        <p:txBody>
          <a:bodyPr wrap="square">
            <a:spAutoFit/>
          </a:bodyPr>
          <a:lstStyle/>
          <a:p>
            <a:pPr algn="ctr">
              <a:defRPr sz="2800" b="0">
                <a:solidFill>
                  <a:srgbClr val="BBBBBB"/>
                </a:solidFill>
                <a:latin typeface="Calibri"/>
              </a:defRPr>
            </a:pPr>
            <a:r>
              <a:t>What Will You Do With</a:t>
            </a:r>
          </a:p>
        </p:txBody>
      </p:sp>
      <p:sp>
        <p:nvSpPr>
          <p:cNvPr id="4" name="TextBox 3"/>
          <p:cNvSpPr txBox="1"/>
          <p:nvPr/>
        </p:nvSpPr>
        <p:spPr>
          <a:xfrm>
            <a:off x="914400" y="1463040"/>
            <a:ext cx="10362895" cy="914400"/>
          </a:xfrm>
          <a:prstGeom prst="rect">
            <a:avLst/>
          </a:prstGeom>
          <a:noFill/>
        </p:spPr>
        <p:txBody>
          <a:bodyPr wrap="square">
            <a:spAutoFit/>
          </a:bodyPr>
          <a:lstStyle/>
          <a:p>
            <a:pPr algn="ctr">
              <a:defRPr sz="5200" b="1">
                <a:solidFill>
                  <a:srgbClr val="FFFFFF"/>
                </a:solidFill>
                <a:latin typeface="Calibri"/>
              </a:defRPr>
            </a:pPr>
            <a:r>
              <a:t>10x More Time?</a:t>
            </a:r>
          </a:p>
        </p:txBody>
      </p:sp>
      <p:sp>
        <p:nvSpPr>
          <p:cNvPr id="5" name="TextBox 4"/>
          <p:cNvSpPr txBox="1"/>
          <p:nvPr/>
        </p:nvSpPr>
        <p:spPr>
          <a:xfrm>
            <a:off x="914400" y="2743200"/>
            <a:ext cx="10362895" cy="548640"/>
          </a:xfrm>
          <a:prstGeom prst="rect">
            <a:avLst/>
          </a:prstGeom>
          <a:noFill/>
        </p:spPr>
        <p:txBody>
          <a:bodyPr wrap="square">
            <a:spAutoFit/>
          </a:bodyPr>
          <a:lstStyle/>
          <a:p>
            <a:pPr algn="ctr">
              <a:defRPr sz="2400" b="0">
                <a:solidFill>
                  <a:srgbClr val="00D4FF"/>
                </a:solidFill>
                <a:latin typeface="Calibri"/>
              </a:defRPr>
            </a:pPr>
            <a:r>
              <a:t>Let's find out together.</a:t>
            </a:r>
          </a:p>
        </p:txBody>
      </p:sp>
      <p:sp>
        <p:nvSpPr>
          <p:cNvPr id="6" name="Rounded Rectangle 5"/>
          <p:cNvSpPr/>
          <p:nvPr/>
        </p:nvSpPr>
        <p:spPr>
          <a:xfrm>
            <a:off x="1371600" y="3840480"/>
            <a:ext cx="4389120" cy="91440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2000" b="1">
                <a:solidFill>
                  <a:srgbClr val="FFFFFF"/>
                </a:solidFill>
                <a:latin typeface="Calibri"/>
              </a:defRPr>
            </a:pPr>
            <a:r>
              <a:t>📧  ariel@mynewagent.ai</a:t>
            </a:r>
          </a:p>
        </p:txBody>
      </p:sp>
      <p:sp>
        <p:nvSpPr>
          <p:cNvPr id="7" name="Rounded Rectangle 6"/>
          <p:cNvSpPr/>
          <p:nvPr/>
        </p:nvSpPr>
        <p:spPr>
          <a:xfrm>
            <a:off x="6400800" y="3840480"/>
            <a:ext cx="4389120" cy="91440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2000" b="1">
                <a:solidFill>
                  <a:srgbClr val="FFFFFF"/>
                </a:solidFill>
                <a:latin typeface="Calibri"/>
              </a:defRPr>
            </a:pPr>
            <a:r>
              <a:t>🌐  mynewagent.ai</a:t>
            </a:r>
          </a:p>
        </p:txBody>
      </p:sp>
      <p:sp>
        <p:nvSpPr>
          <p:cNvPr id="8" name="Rounded Rectangle 7"/>
          <p:cNvSpPr/>
          <p:nvPr/>
        </p:nvSpPr>
        <p:spPr>
          <a:xfrm>
            <a:off x="2286000" y="5303520"/>
            <a:ext cx="7619695" cy="914400"/>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defRPr sz="1800" b="1">
                <a:solidFill>
                  <a:srgbClr val="0F0F23"/>
                </a:solidFill>
                <a:latin typeface="Calibri"/>
              </a:defRPr>
            </a:pPr>
            <a:r>
              <a:t>FREE PROCESS AUDIT — Book today and we'll map your #1 automation opportunity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